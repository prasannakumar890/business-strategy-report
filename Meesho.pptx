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2" r:id="rId6"/>
    <p:sldId id="263" r:id="rId7"/>
    <p:sldId id="269" r:id="rId8"/>
    <p:sldId id="270" r:id="rId9"/>
    <p:sldId id="267" r:id="rId10"/>
    <p:sldId id="268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6313"/>
    <a:srgbClr val="79B554"/>
    <a:srgbClr val="9C372D"/>
    <a:srgbClr val="AAAAAA"/>
    <a:srgbClr val="FFC622"/>
    <a:srgbClr val="4472C4"/>
    <a:srgbClr val="782D90"/>
    <a:srgbClr val="3F892D"/>
    <a:srgbClr val="149EC7"/>
    <a:srgbClr val="D05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0132-6478-4915-9322-BB451272EB3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A77F8-D34D-4E0A-9716-C072EA929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3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A77F8-D34D-4E0A-9716-C072EA92914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29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5AF3-8C57-8705-B149-DA401935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B7E94-4478-EFD9-0C40-B08EE73CB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2242B-1E1D-C7B1-CEBE-C2E075607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FF8B3-AAC7-8844-274A-02CD7FC26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A77F8-D34D-4E0A-9716-C072EA9291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091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7348-032F-9868-E934-34D1A7608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C98EC-CCDC-3527-6A86-B8BCA8408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1BDDC-50F4-9D1D-0F9E-85E23356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65C3-1F34-1477-73C1-E88DFA92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39BCB-046F-03AB-5863-0BBE681E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8096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EC18-4EAE-78AD-60AA-BE672B49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344C3-D484-5F5A-1549-7D6724B38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14970-162C-C348-BFA4-8EA404F8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AB66A-D427-F9EF-9643-C7406436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90878-0BA7-4872-975A-A8503B36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6679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2669-8D0E-652E-889D-46B86798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47E6-A8D0-E857-EA5B-D7C459C97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9EE01-69AD-2800-786B-F9858281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110C4-54A8-A843-2C82-BE0735B6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4F337-A3F7-6612-5D88-D2743F5C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3021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1EB0-C2EE-4325-0E52-72416F76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831CF-F7EC-EB0A-5D65-7DC289F96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24524-CD31-B350-ED77-84A272EC0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187AE-682A-1E45-97E9-EE6EB0BB4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A8681-F3B9-BF29-C636-419A7869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C4D16-DFC3-F179-61CF-8AAB9D0F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6367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B85AE-16C4-B66F-B94C-1428D29B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0BEEE-DA62-7997-D00E-1338A5F6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04C68-D0E1-B350-8787-97259EFEF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1A19C-841E-F30A-8173-7D7330DB3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1FEB6-842C-766E-8E4F-B6E7D7F39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24F77-90FC-9399-1E91-2BF44CAB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A638B-43A7-CBFF-F17B-29343C6C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00881-2E8E-5B46-77DF-BFF4AC8D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8848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60DB-6202-E572-0747-D491BA09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2F1D-7724-9A8E-093C-222FB970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54929-2121-E648-937E-60BD6EF0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1D357-4ED4-FAD1-71B4-96D93845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9549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6CABA-7AA2-5C64-DEBA-F129CA5A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9B119-3B97-6138-381C-8FD122B1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D1839-E506-3C3C-6957-65F56369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7092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067E-895C-2610-30CE-753E5B1F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33AE-26F6-C1E3-643D-AD82EB8D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84EDC-452E-042B-0EC2-693405CD1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156F2-98F8-4FD6-42EA-7F59505C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BCE59-BB17-0EF3-035C-2BB82517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08428-5758-14F5-D3DC-A8C03429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4668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0C6B-510D-7B3F-2EF8-0787130E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65016-0211-6F7B-4089-7B481580C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ECB26-C5E6-710A-C447-CB18E1E0F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E5BA2-0F9F-16A5-008F-1F01C171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F43C9-51A2-7C45-9054-EFE09983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6625B-A7A2-A115-2B7F-3AF1A6E4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90330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CFF6-3411-E38A-365D-A840C7C6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00C39-0579-5E82-AE7A-B96EA8D5B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D6A24-365C-FA2A-1B22-D6EF3647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67415-7A14-F9CE-6A97-424DD877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70831-55A8-4D47-107D-F0B56DA2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462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3BF92-EFB3-211F-2EE1-CA1F72B0C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CE267-1A99-AF7B-6D68-9CE1D316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B01BC-71A0-04B4-C92F-244E281A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2128D-4CA1-4545-2CD3-C1B155AD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8087A-0479-3972-0572-315F04F5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1985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7C3D5-9757-3C17-092B-BF428146B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B5E48-6F22-874A-E10E-F2E628EC3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90060-100B-C7B1-6492-B92B44BD5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F09C8-D6E3-4D05-97B0-F0642098BB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E71D-2392-D4F6-A70F-8B5A90075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BC535-C44D-8691-C9A7-BA127D0D9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78889-2600-47FD-8C4F-1DC4E0B8F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2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6D849CA-EA26-9B09-DE1C-0E71D5D6F5E9}"/>
              </a:ext>
            </a:extLst>
          </p:cNvPr>
          <p:cNvSpPr/>
          <p:nvPr/>
        </p:nvSpPr>
        <p:spPr>
          <a:xfrm>
            <a:off x="1310986" y="0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9CAB44-6C13-C803-0727-65FF4EB46FD9}"/>
              </a:ext>
            </a:extLst>
          </p:cNvPr>
          <p:cNvSpPr/>
          <p:nvPr/>
        </p:nvSpPr>
        <p:spPr>
          <a:xfrm>
            <a:off x="177014" y="220137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1026" name="Picture 2" descr="Meesho: Online Shopping App 25.2-beta ...">
            <a:extLst>
              <a:ext uri="{FF2B5EF4-FFF2-40B4-BE49-F238E27FC236}">
                <a16:creationId xmlns:a16="http://schemas.microsoft.com/office/drawing/2014/main" id="{E1A1C834-D392-000C-0027-97E062E7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539" y="1945772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022154-D7A2-C853-3EF3-AAE5497AD6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090873" y="3365192"/>
            <a:ext cx="5670374" cy="3246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63D0E0-96D9-EA65-C666-FDB88565A8B3}"/>
              </a:ext>
            </a:extLst>
          </p:cNvPr>
          <p:cNvSpPr txBox="1"/>
          <p:nvPr/>
        </p:nvSpPr>
        <p:spPr>
          <a:xfrm>
            <a:off x="5890063" y="1778378"/>
            <a:ext cx="4814082" cy="1569660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Cooper Black" panose="0208090404030B020404" pitchFamily="18" charset="0"/>
              </a:rPr>
              <a:t>meesho</a:t>
            </a:r>
            <a:endParaRPr lang="en-IN" sz="7200" b="1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29" name="Picture 28" descr="Top E Commerce App Development Company">
            <a:extLst>
              <a:ext uri="{FF2B5EF4-FFF2-40B4-BE49-F238E27FC236}">
                <a16:creationId xmlns:a16="http://schemas.microsoft.com/office/drawing/2014/main" id="{49C72848-351D-0B12-DD94-571E2D5FE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056D3501-E551-C918-0539-1A15F1A6262F}"/>
              </a:ext>
            </a:extLst>
          </p:cNvPr>
          <p:cNvSpPr/>
          <p:nvPr/>
        </p:nvSpPr>
        <p:spPr>
          <a:xfrm>
            <a:off x="4978717" y="2940808"/>
            <a:ext cx="6636774" cy="1138310"/>
          </a:xfrm>
          <a:prstGeom prst="stripedRightArrow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THE POWER OF SHOPPING IN YOUR HANDS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996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A70AC02-8F10-D88A-5325-624B3A9D2EB6}"/>
              </a:ext>
            </a:extLst>
          </p:cNvPr>
          <p:cNvSpPr/>
          <p:nvPr/>
        </p:nvSpPr>
        <p:spPr>
          <a:xfrm>
            <a:off x="135316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BD751F7-900B-05F5-F8FF-BB41E536B285}"/>
              </a:ext>
            </a:extLst>
          </p:cNvPr>
          <p:cNvSpPr/>
          <p:nvPr/>
        </p:nvSpPr>
        <p:spPr>
          <a:xfrm>
            <a:off x="1310986" y="-14156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3EC1158E-705F-EB36-F00A-1E9B20D9A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664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2543EA-DA16-2D8D-3CC8-F373D1C626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007274" y="3391732"/>
            <a:ext cx="5670374" cy="32462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AD6292-8CE3-0712-33DD-ECB192C4BC79}"/>
              </a:ext>
            </a:extLst>
          </p:cNvPr>
          <p:cNvSpPr/>
          <p:nvPr/>
        </p:nvSpPr>
        <p:spPr>
          <a:xfrm>
            <a:off x="4124398" y="3095350"/>
            <a:ext cx="1334087" cy="638989"/>
          </a:xfrm>
          <a:prstGeom prst="rect">
            <a:avLst/>
          </a:prstGeom>
          <a:solidFill>
            <a:srgbClr val="D05F12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A0DCC4E-BD32-5F3B-8F2E-351320808E0C}"/>
              </a:ext>
            </a:extLst>
          </p:cNvPr>
          <p:cNvSpPr/>
          <p:nvPr/>
        </p:nvSpPr>
        <p:spPr>
          <a:xfrm>
            <a:off x="5283897" y="3310821"/>
            <a:ext cx="521316" cy="270241"/>
          </a:xfrm>
          <a:prstGeom prst="rightArrow">
            <a:avLst/>
          </a:prstGeo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24704C-55A6-5C95-13B8-D7397013CA89}"/>
              </a:ext>
            </a:extLst>
          </p:cNvPr>
          <p:cNvCxnSpPr>
            <a:cxnSpLocks/>
          </p:cNvCxnSpPr>
          <p:nvPr/>
        </p:nvCxnSpPr>
        <p:spPr>
          <a:xfrm>
            <a:off x="5837947" y="781242"/>
            <a:ext cx="85725" cy="558165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A4E5E26-6A9F-3F48-8069-4CAF1E285409}"/>
              </a:ext>
            </a:extLst>
          </p:cNvPr>
          <p:cNvSpPr txBox="1"/>
          <p:nvPr/>
        </p:nvSpPr>
        <p:spPr>
          <a:xfrm>
            <a:off x="6038266" y="588649"/>
            <a:ext cx="5075992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Year    – Dec-2015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  – Bangalore, Karnataka, India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Founders            – Vidit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Aatery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Sanjeev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Barnwal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            – E-Commerce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               – Online Shopping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B2BFC9-59A7-7CE0-B15F-56BB992B344E}"/>
              </a:ext>
            </a:extLst>
          </p:cNvPr>
          <p:cNvSpPr txBox="1"/>
          <p:nvPr/>
        </p:nvSpPr>
        <p:spPr>
          <a:xfrm>
            <a:off x="6038266" y="2252710"/>
            <a:ext cx="5075992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in Smartphone usage in India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Of Tire 2 &amp; Tire 3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Low – Cost products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0D0745-3EAD-E7CF-22E0-2169912151C5}"/>
              </a:ext>
            </a:extLst>
          </p:cNvPr>
          <p:cNvSpPr txBox="1"/>
          <p:nvPr/>
        </p:nvSpPr>
        <p:spPr>
          <a:xfrm>
            <a:off x="6038266" y="3581062"/>
            <a:ext cx="5075992" cy="147732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Product-Services: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Meanswear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Womenswear, Kids wear)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&amp; Kitchen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 &amp; Accessories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91037C-5F05-D4BE-1A0D-0B19765BCA28}"/>
              </a:ext>
            </a:extLst>
          </p:cNvPr>
          <p:cNvSpPr txBox="1"/>
          <p:nvPr/>
        </p:nvSpPr>
        <p:spPr>
          <a:xfrm>
            <a:off x="6038266" y="5186413"/>
            <a:ext cx="5075992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Senstive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Resellers (Women Entrepreneurs)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Tire 2 &amp; Tire 3 Customers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 descr="Top E Commerce App Development Company">
            <a:extLst>
              <a:ext uri="{FF2B5EF4-FFF2-40B4-BE49-F238E27FC236}">
                <a16:creationId xmlns:a16="http://schemas.microsoft.com/office/drawing/2014/main" id="{C99829C5-4AB5-B776-1CFC-782283F5B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474875" y="4493342"/>
            <a:ext cx="1717125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04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96D6A9C-0394-2317-7026-0D886A29F4FF}"/>
              </a:ext>
            </a:extLst>
          </p:cNvPr>
          <p:cNvSpPr/>
          <p:nvPr/>
        </p:nvSpPr>
        <p:spPr>
          <a:xfrm>
            <a:off x="135316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760F288-EEC0-6CAE-0E9C-AB6967C3A7BA}"/>
              </a:ext>
            </a:extLst>
          </p:cNvPr>
          <p:cNvSpPr/>
          <p:nvPr/>
        </p:nvSpPr>
        <p:spPr>
          <a:xfrm>
            <a:off x="1310986" y="-26985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10" name="Picture 2" descr="Meesho: Online Shopping App 25.2-beta ...">
            <a:extLst>
              <a:ext uri="{FF2B5EF4-FFF2-40B4-BE49-F238E27FC236}">
                <a16:creationId xmlns:a16="http://schemas.microsoft.com/office/drawing/2014/main" id="{48F657EA-94BE-CB56-9D9D-21CDEE592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664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6885FB-2DC8-F762-823F-E05953AD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031549" y="3402015"/>
            <a:ext cx="5670374" cy="324627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E9F7078-0488-2411-34A1-978D3D64B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7072" y="602101"/>
            <a:ext cx="2375033" cy="237808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6" name="TextBox 39">
            <a:extLst>
              <a:ext uri="{FF2B5EF4-FFF2-40B4-BE49-F238E27FC236}">
                <a16:creationId xmlns:a16="http://schemas.microsoft.com/office/drawing/2014/main" id="{D91B90E2-73A8-5CBB-369E-D39D03465605}"/>
              </a:ext>
            </a:extLst>
          </p:cNvPr>
          <p:cNvSpPr txBox="1"/>
          <p:nvPr/>
        </p:nvSpPr>
        <p:spPr>
          <a:xfrm>
            <a:off x="9027520" y="1860638"/>
            <a:ext cx="2198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BUSINESS MODEL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ANALYSIS</a:t>
            </a:r>
            <a:endParaRPr lang="ru-RU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Freeform 151">
            <a:extLst>
              <a:ext uri="{FF2B5EF4-FFF2-40B4-BE49-F238E27FC236}">
                <a16:creationId xmlns:a16="http://schemas.microsoft.com/office/drawing/2014/main" id="{9A10FE5F-C6B8-20DA-A38E-D533D73A886B}"/>
              </a:ext>
            </a:extLst>
          </p:cNvPr>
          <p:cNvSpPr>
            <a:spLocks noEditPoints="1"/>
          </p:cNvSpPr>
          <p:nvPr/>
        </p:nvSpPr>
        <p:spPr bwMode="auto">
          <a:xfrm>
            <a:off x="9747184" y="889165"/>
            <a:ext cx="754183" cy="849557"/>
          </a:xfrm>
          <a:custGeom>
            <a:avLst/>
            <a:gdLst>
              <a:gd name="T0" fmla="*/ 68 w 214"/>
              <a:gd name="T1" fmla="*/ 188 h 241"/>
              <a:gd name="T2" fmla="*/ 51 w 214"/>
              <a:gd name="T3" fmla="*/ 145 h 241"/>
              <a:gd name="T4" fmla="*/ 40 w 214"/>
              <a:gd name="T5" fmla="*/ 108 h 241"/>
              <a:gd name="T6" fmla="*/ 107 w 214"/>
              <a:gd name="T7" fmla="*/ 41 h 241"/>
              <a:gd name="T8" fmla="*/ 173 w 214"/>
              <a:gd name="T9" fmla="*/ 108 h 241"/>
              <a:gd name="T10" fmla="*/ 163 w 214"/>
              <a:gd name="T11" fmla="*/ 145 h 241"/>
              <a:gd name="T12" fmla="*/ 145 w 214"/>
              <a:gd name="T13" fmla="*/ 181 h 241"/>
              <a:gd name="T14" fmla="*/ 107 w 214"/>
              <a:gd name="T15" fmla="*/ 67 h 241"/>
              <a:gd name="T16" fmla="*/ 67 w 214"/>
              <a:gd name="T17" fmla="*/ 107 h 241"/>
              <a:gd name="T18" fmla="*/ 107 w 214"/>
              <a:gd name="T19" fmla="*/ 147 h 241"/>
              <a:gd name="T20" fmla="*/ 147 w 214"/>
              <a:gd name="T21" fmla="*/ 107 h 241"/>
              <a:gd name="T22" fmla="*/ 107 w 214"/>
              <a:gd name="T23" fmla="*/ 67 h 241"/>
              <a:gd name="T24" fmla="*/ 91 w 214"/>
              <a:gd name="T25" fmla="*/ 113 h 241"/>
              <a:gd name="T26" fmla="*/ 103 w 214"/>
              <a:gd name="T27" fmla="*/ 127 h 241"/>
              <a:gd name="T28" fmla="*/ 122 w 214"/>
              <a:gd name="T29" fmla="*/ 94 h 241"/>
              <a:gd name="T30" fmla="*/ 107 w 214"/>
              <a:gd name="T31" fmla="*/ 20 h 241"/>
              <a:gd name="T32" fmla="*/ 107 w 214"/>
              <a:gd name="T33" fmla="*/ 0 h 241"/>
              <a:gd name="T34" fmla="*/ 64 w 214"/>
              <a:gd name="T35" fmla="*/ 32 h 241"/>
              <a:gd name="T36" fmla="*/ 53 w 214"/>
              <a:gd name="T37" fmla="*/ 14 h 241"/>
              <a:gd name="T38" fmla="*/ 14 w 214"/>
              <a:gd name="T39" fmla="*/ 53 h 241"/>
              <a:gd name="T40" fmla="*/ 32 w 214"/>
              <a:gd name="T41" fmla="*/ 64 h 241"/>
              <a:gd name="T42" fmla="*/ 0 w 214"/>
              <a:gd name="T43" fmla="*/ 107 h 241"/>
              <a:gd name="T44" fmla="*/ 21 w 214"/>
              <a:gd name="T45" fmla="*/ 107 h 241"/>
              <a:gd name="T46" fmla="*/ 160 w 214"/>
              <a:gd name="T47" fmla="*/ 14 h 241"/>
              <a:gd name="T48" fmla="*/ 150 w 214"/>
              <a:gd name="T49" fmla="*/ 32 h 241"/>
              <a:gd name="T50" fmla="*/ 199 w 214"/>
              <a:gd name="T51" fmla="*/ 53 h 241"/>
              <a:gd name="T52" fmla="*/ 181 w 214"/>
              <a:gd name="T53" fmla="*/ 64 h 241"/>
              <a:gd name="T54" fmla="*/ 193 w 214"/>
              <a:gd name="T55" fmla="*/ 107 h 241"/>
              <a:gd name="T56" fmla="*/ 214 w 214"/>
              <a:gd name="T57" fmla="*/ 107 h 241"/>
              <a:gd name="T58" fmla="*/ 131 w 214"/>
              <a:gd name="T59" fmla="*/ 194 h 241"/>
              <a:gd name="T60" fmla="*/ 78 w 214"/>
              <a:gd name="T61" fmla="*/ 208 h 241"/>
              <a:gd name="T62" fmla="*/ 72 w 214"/>
              <a:gd name="T63" fmla="*/ 217 h 241"/>
              <a:gd name="T64" fmla="*/ 81 w 214"/>
              <a:gd name="T65" fmla="*/ 226 h 241"/>
              <a:gd name="T66" fmla="*/ 85 w 214"/>
              <a:gd name="T67" fmla="*/ 225 h 241"/>
              <a:gd name="T68" fmla="*/ 131 w 214"/>
              <a:gd name="T69" fmla="*/ 212 h 241"/>
              <a:gd name="T70" fmla="*/ 131 w 214"/>
              <a:gd name="T71" fmla="*/ 212 h 241"/>
              <a:gd name="T72" fmla="*/ 133 w 214"/>
              <a:gd name="T73" fmla="*/ 212 h 241"/>
              <a:gd name="T74" fmla="*/ 142 w 214"/>
              <a:gd name="T75" fmla="*/ 221 h 241"/>
              <a:gd name="T76" fmla="*/ 136 w 214"/>
              <a:gd name="T77" fmla="*/ 229 h 241"/>
              <a:gd name="T78" fmla="*/ 91 w 214"/>
              <a:gd name="T79" fmla="*/ 241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14" h="241">
                <a:moveTo>
                  <a:pt x="68" y="188"/>
                </a:moveTo>
                <a:cubicBezTo>
                  <a:pt x="70" y="177"/>
                  <a:pt x="65" y="167"/>
                  <a:pt x="51" y="145"/>
                </a:cubicBezTo>
                <a:cubicBezTo>
                  <a:pt x="44" y="134"/>
                  <a:pt x="40" y="121"/>
                  <a:pt x="40" y="108"/>
                </a:cubicBezTo>
                <a:cubicBezTo>
                  <a:pt x="40" y="71"/>
                  <a:pt x="70" y="41"/>
                  <a:pt x="107" y="41"/>
                </a:cubicBezTo>
                <a:cubicBezTo>
                  <a:pt x="144" y="41"/>
                  <a:pt x="173" y="71"/>
                  <a:pt x="173" y="108"/>
                </a:cubicBezTo>
                <a:cubicBezTo>
                  <a:pt x="173" y="121"/>
                  <a:pt x="170" y="134"/>
                  <a:pt x="163" y="145"/>
                </a:cubicBezTo>
                <a:cubicBezTo>
                  <a:pt x="152" y="162"/>
                  <a:pt x="147" y="172"/>
                  <a:pt x="145" y="181"/>
                </a:cubicBezTo>
                <a:moveTo>
                  <a:pt x="107" y="67"/>
                </a:moveTo>
                <a:cubicBezTo>
                  <a:pt x="85" y="67"/>
                  <a:pt x="67" y="85"/>
                  <a:pt x="67" y="107"/>
                </a:cubicBezTo>
                <a:cubicBezTo>
                  <a:pt x="67" y="129"/>
                  <a:pt x="85" y="147"/>
                  <a:pt x="107" y="147"/>
                </a:cubicBezTo>
                <a:cubicBezTo>
                  <a:pt x="129" y="147"/>
                  <a:pt x="147" y="129"/>
                  <a:pt x="147" y="107"/>
                </a:cubicBezTo>
                <a:cubicBezTo>
                  <a:pt x="147" y="85"/>
                  <a:pt x="129" y="67"/>
                  <a:pt x="107" y="67"/>
                </a:cubicBezTo>
                <a:close/>
                <a:moveTo>
                  <a:pt x="91" y="113"/>
                </a:moveTo>
                <a:cubicBezTo>
                  <a:pt x="103" y="127"/>
                  <a:pt x="103" y="127"/>
                  <a:pt x="103" y="127"/>
                </a:cubicBezTo>
                <a:cubicBezTo>
                  <a:pt x="122" y="94"/>
                  <a:pt x="122" y="94"/>
                  <a:pt x="122" y="94"/>
                </a:cubicBezTo>
                <a:moveTo>
                  <a:pt x="107" y="20"/>
                </a:moveTo>
                <a:cubicBezTo>
                  <a:pt x="107" y="0"/>
                  <a:pt x="107" y="0"/>
                  <a:pt x="107" y="0"/>
                </a:cubicBezTo>
                <a:moveTo>
                  <a:pt x="64" y="32"/>
                </a:moveTo>
                <a:cubicBezTo>
                  <a:pt x="53" y="14"/>
                  <a:pt x="53" y="14"/>
                  <a:pt x="53" y="14"/>
                </a:cubicBezTo>
                <a:moveTo>
                  <a:pt x="14" y="53"/>
                </a:moveTo>
                <a:cubicBezTo>
                  <a:pt x="32" y="64"/>
                  <a:pt x="32" y="64"/>
                  <a:pt x="32" y="64"/>
                </a:cubicBezTo>
                <a:moveTo>
                  <a:pt x="0" y="107"/>
                </a:moveTo>
                <a:cubicBezTo>
                  <a:pt x="21" y="107"/>
                  <a:pt x="21" y="107"/>
                  <a:pt x="21" y="107"/>
                </a:cubicBezTo>
                <a:moveTo>
                  <a:pt x="160" y="14"/>
                </a:moveTo>
                <a:cubicBezTo>
                  <a:pt x="150" y="32"/>
                  <a:pt x="150" y="32"/>
                  <a:pt x="150" y="32"/>
                </a:cubicBezTo>
                <a:moveTo>
                  <a:pt x="199" y="53"/>
                </a:moveTo>
                <a:cubicBezTo>
                  <a:pt x="181" y="64"/>
                  <a:pt x="181" y="64"/>
                  <a:pt x="181" y="64"/>
                </a:cubicBezTo>
                <a:moveTo>
                  <a:pt x="193" y="107"/>
                </a:moveTo>
                <a:cubicBezTo>
                  <a:pt x="214" y="107"/>
                  <a:pt x="214" y="107"/>
                  <a:pt x="214" y="107"/>
                </a:cubicBezTo>
                <a:moveTo>
                  <a:pt x="131" y="194"/>
                </a:moveTo>
                <a:cubicBezTo>
                  <a:pt x="131" y="194"/>
                  <a:pt x="78" y="208"/>
                  <a:pt x="78" y="208"/>
                </a:cubicBezTo>
                <a:cubicBezTo>
                  <a:pt x="75" y="210"/>
                  <a:pt x="72" y="213"/>
                  <a:pt x="72" y="217"/>
                </a:cubicBezTo>
                <a:cubicBezTo>
                  <a:pt x="72" y="222"/>
                  <a:pt x="76" y="226"/>
                  <a:pt x="81" y="226"/>
                </a:cubicBezTo>
                <a:cubicBezTo>
                  <a:pt x="82" y="226"/>
                  <a:pt x="85" y="225"/>
                  <a:pt x="85" y="225"/>
                </a:cubicBezTo>
                <a:cubicBezTo>
                  <a:pt x="131" y="212"/>
                  <a:pt x="131" y="212"/>
                  <a:pt x="131" y="212"/>
                </a:cubicBezTo>
                <a:cubicBezTo>
                  <a:pt x="131" y="212"/>
                  <a:pt x="131" y="212"/>
                  <a:pt x="131" y="212"/>
                </a:cubicBezTo>
                <a:cubicBezTo>
                  <a:pt x="132" y="212"/>
                  <a:pt x="132" y="212"/>
                  <a:pt x="133" y="212"/>
                </a:cubicBezTo>
                <a:cubicBezTo>
                  <a:pt x="138" y="212"/>
                  <a:pt x="142" y="216"/>
                  <a:pt x="142" y="221"/>
                </a:cubicBezTo>
                <a:cubicBezTo>
                  <a:pt x="142" y="224"/>
                  <a:pt x="139" y="228"/>
                  <a:pt x="136" y="229"/>
                </a:cubicBezTo>
                <a:cubicBezTo>
                  <a:pt x="91" y="241"/>
                  <a:pt x="91" y="241"/>
                  <a:pt x="91" y="241"/>
                </a:cubicBezTo>
              </a:path>
            </a:pathLst>
          </a:custGeom>
          <a:noFill/>
          <a:ln w="30163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CF074E-CC17-F819-389D-2702E89AF966}"/>
              </a:ext>
            </a:extLst>
          </p:cNvPr>
          <p:cNvGrpSpPr/>
          <p:nvPr/>
        </p:nvGrpSpPr>
        <p:grpSpPr>
          <a:xfrm rot="778524">
            <a:off x="5624115" y="810832"/>
            <a:ext cx="3325389" cy="2036704"/>
            <a:chOff x="2942626" y="1786434"/>
            <a:chExt cx="1987550" cy="1515651"/>
          </a:xfrm>
        </p:grpSpPr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21E8F1DF-500E-A037-0F4A-FC0C0DA04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626" y="2319422"/>
              <a:ext cx="1987550" cy="982663"/>
            </a:xfrm>
            <a:custGeom>
              <a:avLst/>
              <a:gdLst>
                <a:gd name="T0" fmla="*/ 424 w 522"/>
                <a:gd name="T1" fmla="*/ 173 h 258"/>
                <a:gd name="T2" fmla="*/ 522 w 522"/>
                <a:gd name="T3" fmla="*/ 38 h 258"/>
                <a:gd name="T4" fmla="*/ 506 w 522"/>
                <a:gd name="T5" fmla="*/ 0 h 258"/>
                <a:gd name="T6" fmla="*/ 0 w 522"/>
                <a:gd name="T7" fmla="*/ 164 h 258"/>
                <a:gd name="T8" fmla="*/ 161 w 522"/>
                <a:gd name="T9" fmla="*/ 258 h 258"/>
                <a:gd name="T10" fmla="*/ 424 w 522"/>
                <a:gd name="T11" fmla="*/ 17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2" h="258">
                  <a:moveTo>
                    <a:pt x="424" y="173"/>
                  </a:moveTo>
                  <a:cubicBezTo>
                    <a:pt x="522" y="38"/>
                    <a:pt x="522" y="38"/>
                    <a:pt x="522" y="38"/>
                  </a:cubicBezTo>
                  <a:cubicBezTo>
                    <a:pt x="516" y="26"/>
                    <a:pt x="511" y="13"/>
                    <a:pt x="506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61" y="258"/>
                    <a:pt x="161" y="258"/>
                    <a:pt x="161" y="258"/>
                  </a:cubicBezTo>
                  <a:lnTo>
                    <a:pt x="424" y="17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59DA92BC-C433-7A8F-81A1-F73F570B1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814" y="1786434"/>
              <a:ext cx="1925638" cy="1160463"/>
            </a:xfrm>
            <a:custGeom>
              <a:avLst/>
              <a:gdLst>
                <a:gd name="T0" fmla="*/ 506 w 506"/>
                <a:gd name="T1" fmla="*/ 141 h 305"/>
                <a:gd name="T2" fmla="*/ 493 w 506"/>
                <a:gd name="T3" fmla="*/ 0 h 305"/>
                <a:gd name="T4" fmla="*/ 75 w 506"/>
                <a:gd name="T5" fmla="*/ 135 h 305"/>
                <a:gd name="T6" fmla="*/ 0 w 506"/>
                <a:gd name="T7" fmla="*/ 305 h 305"/>
                <a:gd name="T8" fmla="*/ 0 w 506"/>
                <a:gd name="T9" fmla="*/ 305 h 305"/>
                <a:gd name="T10" fmla="*/ 506 w 506"/>
                <a:gd name="T11" fmla="*/ 1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6" h="305">
                  <a:moveTo>
                    <a:pt x="506" y="141"/>
                  </a:moveTo>
                  <a:cubicBezTo>
                    <a:pt x="491" y="94"/>
                    <a:pt x="487" y="46"/>
                    <a:pt x="493" y="0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506" y="141"/>
                    <a:pt x="506" y="141"/>
                    <a:pt x="506" y="1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56D425-003B-8399-D5F3-8F9D15A13B90}"/>
              </a:ext>
            </a:extLst>
          </p:cNvPr>
          <p:cNvGrpSpPr/>
          <p:nvPr/>
        </p:nvGrpSpPr>
        <p:grpSpPr>
          <a:xfrm rot="20042490">
            <a:off x="6395430" y="2701529"/>
            <a:ext cx="3325389" cy="2026058"/>
            <a:chOff x="2945369" y="1793166"/>
            <a:chExt cx="1987550" cy="1507727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8BB15DDA-F350-0012-0AB0-58B4EEDCC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369" y="2318230"/>
              <a:ext cx="1987550" cy="982663"/>
            </a:xfrm>
            <a:custGeom>
              <a:avLst/>
              <a:gdLst>
                <a:gd name="T0" fmla="*/ 424 w 522"/>
                <a:gd name="T1" fmla="*/ 173 h 258"/>
                <a:gd name="T2" fmla="*/ 522 w 522"/>
                <a:gd name="T3" fmla="*/ 38 h 258"/>
                <a:gd name="T4" fmla="*/ 506 w 522"/>
                <a:gd name="T5" fmla="*/ 0 h 258"/>
                <a:gd name="T6" fmla="*/ 0 w 522"/>
                <a:gd name="T7" fmla="*/ 164 h 258"/>
                <a:gd name="T8" fmla="*/ 161 w 522"/>
                <a:gd name="T9" fmla="*/ 258 h 258"/>
                <a:gd name="T10" fmla="*/ 424 w 522"/>
                <a:gd name="T11" fmla="*/ 17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2" h="258">
                  <a:moveTo>
                    <a:pt x="424" y="173"/>
                  </a:moveTo>
                  <a:cubicBezTo>
                    <a:pt x="522" y="38"/>
                    <a:pt x="522" y="38"/>
                    <a:pt x="522" y="38"/>
                  </a:cubicBezTo>
                  <a:cubicBezTo>
                    <a:pt x="516" y="26"/>
                    <a:pt x="511" y="13"/>
                    <a:pt x="506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61" y="258"/>
                    <a:pt x="161" y="258"/>
                    <a:pt x="161" y="258"/>
                  </a:cubicBezTo>
                  <a:lnTo>
                    <a:pt x="424" y="173"/>
                  </a:lnTo>
                  <a:close/>
                </a:path>
              </a:pathLst>
            </a:cu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CD137EBD-1072-B2A4-4141-44ABCE01B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49" y="1793166"/>
              <a:ext cx="1925638" cy="1160463"/>
            </a:xfrm>
            <a:custGeom>
              <a:avLst/>
              <a:gdLst>
                <a:gd name="T0" fmla="*/ 506 w 506"/>
                <a:gd name="T1" fmla="*/ 141 h 305"/>
                <a:gd name="T2" fmla="*/ 493 w 506"/>
                <a:gd name="T3" fmla="*/ 0 h 305"/>
                <a:gd name="T4" fmla="*/ 75 w 506"/>
                <a:gd name="T5" fmla="*/ 135 h 305"/>
                <a:gd name="T6" fmla="*/ 0 w 506"/>
                <a:gd name="T7" fmla="*/ 305 h 305"/>
                <a:gd name="T8" fmla="*/ 0 w 506"/>
                <a:gd name="T9" fmla="*/ 305 h 305"/>
                <a:gd name="T10" fmla="*/ 506 w 506"/>
                <a:gd name="T11" fmla="*/ 1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6" h="305">
                  <a:moveTo>
                    <a:pt x="506" y="141"/>
                  </a:moveTo>
                  <a:cubicBezTo>
                    <a:pt x="491" y="94"/>
                    <a:pt x="487" y="46"/>
                    <a:pt x="493" y="0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506" y="141"/>
                    <a:pt x="506" y="141"/>
                    <a:pt x="506" y="141"/>
                  </a:cubicBezTo>
                  <a:close/>
                </a:path>
              </a:pathLst>
            </a:cu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BCF2B53-F3E2-F221-24DE-07DB07E0ED78}"/>
              </a:ext>
            </a:extLst>
          </p:cNvPr>
          <p:cNvGrpSpPr/>
          <p:nvPr/>
        </p:nvGrpSpPr>
        <p:grpSpPr>
          <a:xfrm rot="18037939">
            <a:off x="8091841" y="3665072"/>
            <a:ext cx="3346607" cy="2020742"/>
            <a:chOff x="2992200" y="1746718"/>
            <a:chExt cx="2000232" cy="1503772"/>
          </a:xfrm>
        </p:grpSpPr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871DBBE9-0929-EDA2-ACFC-6AAE85796E1C}"/>
                </a:ext>
              </a:extLst>
            </p:cNvPr>
            <p:cNvSpPr>
              <a:spLocks/>
            </p:cNvSpPr>
            <p:nvPr/>
          </p:nvSpPr>
          <p:spPr bwMode="auto">
            <a:xfrm rot="21395265">
              <a:off x="3004882" y="2267827"/>
              <a:ext cx="1987550" cy="982663"/>
            </a:xfrm>
            <a:custGeom>
              <a:avLst/>
              <a:gdLst>
                <a:gd name="T0" fmla="*/ 424 w 522"/>
                <a:gd name="T1" fmla="*/ 173 h 258"/>
                <a:gd name="T2" fmla="*/ 522 w 522"/>
                <a:gd name="T3" fmla="*/ 38 h 258"/>
                <a:gd name="T4" fmla="*/ 506 w 522"/>
                <a:gd name="T5" fmla="*/ 0 h 258"/>
                <a:gd name="T6" fmla="*/ 0 w 522"/>
                <a:gd name="T7" fmla="*/ 164 h 258"/>
                <a:gd name="T8" fmla="*/ 161 w 522"/>
                <a:gd name="T9" fmla="*/ 258 h 258"/>
                <a:gd name="T10" fmla="*/ 424 w 522"/>
                <a:gd name="T11" fmla="*/ 17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2" h="258">
                  <a:moveTo>
                    <a:pt x="424" y="173"/>
                  </a:moveTo>
                  <a:cubicBezTo>
                    <a:pt x="522" y="38"/>
                    <a:pt x="522" y="38"/>
                    <a:pt x="522" y="38"/>
                  </a:cubicBezTo>
                  <a:cubicBezTo>
                    <a:pt x="516" y="26"/>
                    <a:pt x="511" y="13"/>
                    <a:pt x="506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61" y="258"/>
                    <a:pt x="161" y="258"/>
                    <a:pt x="161" y="258"/>
                  </a:cubicBezTo>
                  <a:lnTo>
                    <a:pt x="424" y="173"/>
                  </a:lnTo>
                  <a:close/>
                </a:path>
              </a:pathLst>
            </a:cu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43E0DF4A-AF13-5339-C2E0-72FD8A01E94C}"/>
                </a:ext>
              </a:extLst>
            </p:cNvPr>
            <p:cNvSpPr>
              <a:spLocks/>
            </p:cNvSpPr>
            <p:nvPr/>
          </p:nvSpPr>
          <p:spPr bwMode="auto">
            <a:xfrm rot="21417583">
              <a:off x="2992200" y="1746718"/>
              <a:ext cx="1925638" cy="1160463"/>
            </a:xfrm>
            <a:custGeom>
              <a:avLst/>
              <a:gdLst>
                <a:gd name="T0" fmla="*/ 506 w 506"/>
                <a:gd name="T1" fmla="*/ 141 h 305"/>
                <a:gd name="T2" fmla="*/ 493 w 506"/>
                <a:gd name="T3" fmla="*/ 0 h 305"/>
                <a:gd name="T4" fmla="*/ 75 w 506"/>
                <a:gd name="T5" fmla="*/ 135 h 305"/>
                <a:gd name="T6" fmla="*/ 0 w 506"/>
                <a:gd name="T7" fmla="*/ 305 h 305"/>
                <a:gd name="T8" fmla="*/ 0 w 506"/>
                <a:gd name="T9" fmla="*/ 305 h 305"/>
                <a:gd name="T10" fmla="*/ 506 w 506"/>
                <a:gd name="T11" fmla="*/ 1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6" h="305">
                  <a:moveTo>
                    <a:pt x="506" y="141"/>
                  </a:moveTo>
                  <a:cubicBezTo>
                    <a:pt x="491" y="94"/>
                    <a:pt x="487" y="46"/>
                    <a:pt x="493" y="0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506" y="141"/>
                    <a:pt x="506" y="141"/>
                    <a:pt x="506" y="141"/>
                  </a:cubicBezTo>
                  <a:close/>
                </a:path>
              </a:pathLst>
            </a:cu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961799A-4CB4-BC26-C84B-2E638C69544C}"/>
              </a:ext>
            </a:extLst>
          </p:cNvPr>
          <p:cNvSpPr txBox="1"/>
          <p:nvPr/>
        </p:nvSpPr>
        <p:spPr>
          <a:xfrm>
            <a:off x="6011683" y="1494657"/>
            <a:ext cx="29972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Commission from Sellers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 &amp; Delivery Chargers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Advertising fees from Sellers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B0B17D-5C42-6EC9-E167-05918BF1ECDA}"/>
              </a:ext>
            </a:extLst>
          </p:cNvPr>
          <p:cNvSpPr txBox="1"/>
          <p:nvPr/>
        </p:nvSpPr>
        <p:spPr>
          <a:xfrm rot="19123390">
            <a:off x="6680572" y="3285969"/>
            <a:ext cx="29972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&amp; Supply Chain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Marketing(Digital ads, offers)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Platform Maintenance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8" descr="The Importance of Choosing an Appropriate Cost Driver in Cost Management">
            <a:extLst>
              <a:ext uri="{FF2B5EF4-FFF2-40B4-BE49-F238E27FC236}">
                <a16:creationId xmlns:a16="http://schemas.microsoft.com/office/drawing/2014/main" id="{0C03839A-461E-9B52-A17B-A82A0EE0A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26" y="2775066"/>
            <a:ext cx="967863" cy="97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8BF59C9-631F-12F5-6ACD-B892B6CE3400}"/>
              </a:ext>
            </a:extLst>
          </p:cNvPr>
          <p:cNvSpPr txBox="1"/>
          <p:nvPr/>
        </p:nvSpPr>
        <p:spPr>
          <a:xfrm rot="16960886">
            <a:off x="8496898" y="3913102"/>
            <a:ext cx="27633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resellers to earn without inventory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Low-cost products directly from Manufacturers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Mobile app for buying &amp; reselling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6" name="Picture 10" descr="Revenue - Free business and finance icons">
            <a:extLst>
              <a:ext uri="{FF2B5EF4-FFF2-40B4-BE49-F238E27FC236}">
                <a16:creationId xmlns:a16="http://schemas.microsoft.com/office/drawing/2014/main" id="{C010AF86-AABA-2642-EB41-60BEF314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936" y="243447"/>
            <a:ext cx="866902" cy="86690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Transportation Ico PNG Transparent With Clear Background ID 416449 | TOPpng">
            <a:extLst>
              <a:ext uri="{FF2B5EF4-FFF2-40B4-BE49-F238E27FC236}">
                <a16:creationId xmlns:a16="http://schemas.microsoft.com/office/drawing/2014/main" id="{6A27BBFF-5E65-A391-5D6F-048B05571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366" y="4542566"/>
            <a:ext cx="862154" cy="88157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Top E Commerce App Development Company">
            <a:extLst>
              <a:ext uri="{FF2B5EF4-FFF2-40B4-BE49-F238E27FC236}">
                <a16:creationId xmlns:a16="http://schemas.microsoft.com/office/drawing/2014/main" id="{2C1E7DF0-A07E-6BFB-43F8-7E03A731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B8AA3B-3978-F473-7112-6F1B67281A07}"/>
              </a:ext>
            </a:extLst>
          </p:cNvPr>
          <p:cNvSpPr/>
          <p:nvPr/>
        </p:nvSpPr>
        <p:spPr>
          <a:xfrm>
            <a:off x="4202596" y="520436"/>
            <a:ext cx="1691844" cy="433850"/>
          </a:xfrm>
          <a:prstGeom prst="roundRect">
            <a:avLst/>
          </a:prstGeom>
          <a:solidFill>
            <a:srgbClr val="149EC7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6C0940-C19C-2028-10E4-4D3156795EEE}"/>
              </a:ext>
            </a:extLst>
          </p:cNvPr>
          <p:cNvSpPr/>
          <p:nvPr/>
        </p:nvSpPr>
        <p:spPr>
          <a:xfrm>
            <a:off x="4477775" y="3091559"/>
            <a:ext cx="1691844" cy="433850"/>
          </a:xfrm>
          <a:prstGeom prst="roundRect">
            <a:avLst/>
          </a:prstGeom>
          <a:solidFill>
            <a:srgbClr val="3F892D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Drivers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2E80B7-8C4F-D5CF-8B05-01FC3D29DAED}"/>
              </a:ext>
            </a:extLst>
          </p:cNvPr>
          <p:cNvSpPr/>
          <p:nvPr/>
        </p:nvSpPr>
        <p:spPr>
          <a:xfrm>
            <a:off x="6372050" y="5171734"/>
            <a:ext cx="1691844" cy="433850"/>
          </a:xfrm>
          <a:prstGeom prst="roundRect">
            <a:avLst/>
          </a:prstGeom>
          <a:solidFill>
            <a:srgbClr val="782D90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Delivery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76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8664-DD7E-AFC8-2214-6CF7196D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5F44FC5-4F40-E5B9-7FA3-A9952879925A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098737-008B-1D81-5503-17CA738E2844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1026" name="Picture 2" descr="Meesho: Online Shopping App 25.2-beta ...">
            <a:extLst>
              <a:ext uri="{FF2B5EF4-FFF2-40B4-BE49-F238E27FC236}">
                <a16:creationId xmlns:a16="http://schemas.microsoft.com/office/drawing/2014/main" id="{5E8C6B3E-A25A-827A-D438-D5E96EEDF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16CFB9-8983-526E-A084-8521E0E4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29" name="Picture 28" descr="Top E Commerce App Development Company">
            <a:extLst>
              <a:ext uri="{FF2B5EF4-FFF2-40B4-BE49-F238E27FC236}">
                <a16:creationId xmlns:a16="http://schemas.microsoft.com/office/drawing/2014/main" id="{A81D02BF-B9EA-6C06-A2D1-CF326C7C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8901C9A1-4584-0C7E-4D3D-328D1AB319FD}"/>
              </a:ext>
            </a:extLst>
          </p:cNvPr>
          <p:cNvGrpSpPr/>
          <p:nvPr/>
        </p:nvGrpSpPr>
        <p:grpSpPr>
          <a:xfrm>
            <a:off x="5979992" y="221725"/>
            <a:ext cx="4575615" cy="4532013"/>
            <a:chOff x="3377538" y="-525533"/>
            <a:chExt cx="6735974" cy="672069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0A023E-784A-2A4E-9CC1-AE0789B12702}"/>
                </a:ext>
              </a:extLst>
            </p:cNvPr>
            <p:cNvGrpSpPr/>
            <p:nvPr/>
          </p:nvGrpSpPr>
          <p:grpSpPr>
            <a:xfrm>
              <a:off x="3377538" y="-525533"/>
              <a:ext cx="2994600" cy="2994928"/>
              <a:chOff x="3377538" y="-525533"/>
              <a:chExt cx="2994600" cy="2994928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8152D12-A972-AF95-7D00-5C6225529D46}"/>
                  </a:ext>
                </a:extLst>
              </p:cNvPr>
              <p:cNvSpPr/>
              <p:nvPr/>
            </p:nvSpPr>
            <p:spPr>
              <a:xfrm>
                <a:off x="3377538" y="-525533"/>
                <a:ext cx="2994600" cy="2994928"/>
              </a:xfrm>
              <a:custGeom>
                <a:avLst/>
                <a:gdLst>
                  <a:gd name="connsiteX0" fmla="*/ 470356 w 2994600"/>
                  <a:gd name="connsiteY0" fmla="*/ 84271 h 2994928"/>
                  <a:gd name="connsiteX1" fmla="*/ 83345 w 2994600"/>
                  <a:gd name="connsiteY1" fmla="*/ 471199 h 2994928"/>
                  <a:gd name="connsiteX2" fmla="*/ 544596 w 2994600"/>
                  <a:gd name="connsiteY2" fmla="*/ 2448949 h 2994928"/>
                  <a:gd name="connsiteX3" fmla="*/ 2522097 w 2994600"/>
                  <a:gd name="connsiteY3" fmla="*/ 2910116 h 2994928"/>
                  <a:gd name="connsiteX4" fmla="*/ 2909024 w 2994600"/>
                  <a:gd name="connsiteY4" fmla="*/ 2523189 h 2994928"/>
                  <a:gd name="connsiteX5" fmla="*/ 2447857 w 2994600"/>
                  <a:gd name="connsiteY5" fmla="*/ 545438 h 2994928"/>
                  <a:gd name="connsiteX6" fmla="*/ 470356 w 2994600"/>
                  <a:gd name="connsiteY6" fmla="*/ 84271 h 2994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94600" h="2994928">
                    <a:moveTo>
                      <a:pt x="470356" y="84271"/>
                    </a:moveTo>
                    <a:cubicBezTo>
                      <a:pt x="282344" y="136255"/>
                      <a:pt x="135363" y="283161"/>
                      <a:pt x="83345" y="471199"/>
                    </a:cubicBezTo>
                    <a:cubicBezTo>
                      <a:pt x="-114405" y="1186045"/>
                      <a:pt x="33408" y="1937596"/>
                      <a:pt x="544596" y="2448949"/>
                    </a:cubicBezTo>
                    <a:cubicBezTo>
                      <a:pt x="1055783" y="2960303"/>
                      <a:pt x="1807500" y="3107950"/>
                      <a:pt x="2522097" y="2910116"/>
                    </a:cubicBezTo>
                    <a:cubicBezTo>
                      <a:pt x="2710109" y="2858049"/>
                      <a:pt x="2856923" y="2711168"/>
                      <a:pt x="2909024" y="2523189"/>
                    </a:cubicBezTo>
                    <a:cubicBezTo>
                      <a:pt x="3106775" y="1808342"/>
                      <a:pt x="2958961" y="1056792"/>
                      <a:pt x="2447857" y="545438"/>
                    </a:cubicBezTo>
                    <a:cubicBezTo>
                      <a:pt x="1936753" y="34084"/>
                      <a:pt x="1185203" y="-113562"/>
                      <a:pt x="470356" y="842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2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DCDC9EB-B125-9675-5022-A80B1A86147A}"/>
                  </a:ext>
                </a:extLst>
              </p:cNvPr>
              <p:cNvSpPr/>
              <p:nvPr/>
            </p:nvSpPr>
            <p:spPr>
              <a:xfrm>
                <a:off x="3491765" y="-240755"/>
                <a:ext cx="2283705" cy="2469366"/>
              </a:xfrm>
              <a:custGeom>
                <a:avLst/>
                <a:gdLst>
                  <a:gd name="connsiteX0" fmla="*/ 470381 w 2283705"/>
                  <a:gd name="connsiteY0" fmla="*/ 84258 h 2469365"/>
                  <a:gd name="connsiteX1" fmla="*/ 83370 w 2283705"/>
                  <a:gd name="connsiteY1" fmla="*/ 471186 h 2469365"/>
                  <a:gd name="connsiteX2" fmla="*/ 521900 w 2283705"/>
                  <a:gd name="connsiteY2" fmla="*/ 2425799 h 2469365"/>
                  <a:gd name="connsiteX3" fmla="*/ 1015359 w 2283705"/>
                  <a:gd name="connsiteY3" fmla="*/ 2402329 h 2469365"/>
                  <a:gd name="connsiteX4" fmla="*/ 939955 w 2283705"/>
                  <a:gd name="connsiteY4" fmla="*/ 1119867 h 2469365"/>
                  <a:gd name="connsiteX5" fmla="*/ 2006773 w 2283705"/>
                  <a:gd name="connsiteY5" fmla="*/ 979793 h 2469365"/>
                  <a:gd name="connsiteX6" fmla="*/ 2282591 w 2283705"/>
                  <a:gd name="connsiteY6" fmla="*/ 398944 h 2469365"/>
                  <a:gd name="connsiteX7" fmla="*/ 470381 w 2283705"/>
                  <a:gd name="connsiteY7" fmla="*/ 84258 h 246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83705" h="2469365">
                    <a:moveTo>
                      <a:pt x="470381" y="84258"/>
                    </a:moveTo>
                    <a:cubicBezTo>
                      <a:pt x="282369" y="136243"/>
                      <a:pt x="135388" y="283149"/>
                      <a:pt x="83370" y="471186"/>
                    </a:cubicBezTo>
                    <a:cubicBezTo>
                      <a:pt x="-111384" y="1175296"/>
                      <a:pt x="28856" y="1915028"/>
                      <a:pt x="521900" y="2425799"/>
                    </a:cubicBezTo>
                    <a:cubicBezTo>
                      <a:pt x="729970" y="2486390"/>
                      <a:pt x="922976" y="2487638"/>
                      <a:pt x="1015359" y="2402329"/>
                    </a:cubicBezTo>
                    <a:cubicBezTo>
                      <a:pt x="1263463" y="2172952"/>
                      <a:pt x="666467" y="1430058"/>
                      <a:pt x="939955" y="1119867"/>
                    </a:cubicBezTo>
                    <a:cubicBezTo>
                      <a:pt x="1160093" y="870182"/>
                      <a:pt x="1647394" y="1238550"/>
                      <a:pt x="2006773" y="979793"/>
                    </a:cubicBezTo>
                    <a:cubicBezTo>
                      <a:pt x="2173229" y="860028"/>
                      <a:pt x="2256457" y="646048"/>
                      <a:pt x="2282591" y="398944"/>
                    </a:cubicBezTo>
                    <a:cubicBezTo>
                      <a:pt x="1782223" y="7356"/>
                      <a:pt x="1111488" y="-93184"/>
                      <a:pt x="470381" y="84258"/>
                    </a:cubicBezTo>
                    <a:close/>
                  </a:path>
                </a:pathLst>
              </a:custGeom>
              <a:solidFill>
                <a:schemeClr val="tx1">
                  <a:alpha val="5000"/>
                </a:schemeClr>
              </a:solidFill>
              <a:ln w="832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DF1903B-6BC4-1E92-1965-FC1562A65983}"/>
                </a:ext>
              </a:extLst>
            </p:cNvPr>
            <p:cNvGrpSpPr/>
            <p:nvPr/>
          </p:nvGrpSpPr>
          <p:grpSpPr>
            <a:xfrm>
              <a:off x="3436170" y="2900353"/>
              <a:ext cx="3211278" cy="3294812"/>
              <a:chOff x="3436170" y="2900353"/>
              <a:chExt cx="3211278" cy="3294812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0A5318D-4EED-FF65-91A9-976CFBC969E0}"/>
                  </a:ext>
                </a:extLst>
              </p:cNvPr>
              <p:cNvSpPr/>
              <p:nvPr/>
            </p:nvSpPr>
            <p:spPr>
              <a:xfrm>
                <a:off x="3652453" y="2900353"/>
                <a:ext cx="2994995" cy="2994850"/>
              </a:xfrm>
              <a:custGeom>
                <a:avLst/>
                <a:gdLst>
                  <a:gd name="connsiteX0" fmla="*/ 83447 w 2994995"/>
                  <a:gd name="connsiteY0" fmla="*/ 2523190 h 2994850"/>
                  <a:gd name="connsiteX1" fmla="*/ 470458 w 2994995"/>
                  <a:gd name="connsiteY1" fmla="*/ 2910118 h 2994850"/>
                  <a:gd name="connsiteX2" fmla="*/ 2448208 w 2994995"/>
                  <a:gd name="connsiteY2" fmla="*/ 2448951 h 2994850"/>
                  <a:gd name="connsiteX3" fmla="*/ 2909376 w 2994995"/>
                  <a:gd name="connsiteY3" fmla="*/ 471200 h 2994850"/>
                  <a:gd name="connsiteX4" fmla="*/ 2522448 w 2994995"/>
                  <a:gd name="connsiteY4" fmla="*/ 84189 h 2994850"/>
                  <a:gd name="connsiteX5" fmla="*/ 544698 w 2994995"/>
                  <a:gd name="connsiteY5" fmla="*/ 545440 h 2994850"/>
                  <a:gd name="connsiteX6" fmla="*/ 83447 w 2994995"/>
                  <a:gd name="connsiteY6" fmla="*/ 2523190 h 299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94995" h="2994850">
                    <a:moveTo>
                      <a:pt x="83447" y="2523190"/>
                    </a:moveTo>
                    <a:cubicBezTo>
                      <a:pt x="135548" y="2711203"/>
                      <a:pt x="282446" y="2858100"/>
                      <a:pt x="470458" y="2910118"/>
                    </a:cubicBezTo>
                    <a:cubicBezTo>
                      <a:pt x="1185304" y="3107868"/>
                      <a:pt x="1936854" y="2960055"/>
                      <a:pt x="2448208" y="2448951"/>
                    </a:cubicBezTo>
                    <a:cubicBezTo>
                      <a:pt x="2959562" y="1937847"/>
                      <a:pt x="3107126" y="1186047"/>
                      <a:pt x="2909376" y="471200"/>
                    </a:cubicBezTo>
                    <a:cubicBezTo>
                      <a:pt x="2857358" y="283188"/>
                      <a:pt x="2710460" y="136273"/>
                      <a:pt x="2522448" y="84189"/>
                    </a:cubicBezTo>
                    <a:cubicBezTo>
                      <a:pt x="1807602" y="-113561"/>
                      <a:pt x="1056051" y="34252"/>
                      <a:pt x="544698" y="545440"/>
                    </a:cubicBezTo>
                    <a:cubicBezTo>
                      <a:pt x="33343" y="1056627"/>
                      <a:pt x="-114470" y="1808344"/>
                      <a:pt x="83447" y="252319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32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0321431-DA44-F942-E16D-0BE853510DE1}"/>
                  </a:ext>
                </a:extLst>
              </p:cNvPr>
              <p:cNvSpPr/>
              <p:nvPr/>
            </p:nvSpPr>
            <p:spPr>
              <a:xfrm>
                <a:off x="3436170" y="3911422"/>
                <a:ext cx="2469491" cy="2283743"/>
              </a:xfrm>
              <a:custGeom>
                <a:avLst/>
                <a:gdLst>
                  <a:gd name="connsiteX0" fmla="*/ 83466 w 2469492"/>
                  <a:gd name="connsiteY0" fmla="*/ 1812023 h 2283744"/>
                  <a:gd name="connsiteX1" fmla="*/ 470476 w 2469492"/>
                  <a:gd name="connsiteY1" fmla="*/ 2198950 h 2283744"/>
                  <a:gd name="connsiteX2" fmla="*/ 2425090 w 2469492"/>
                  <a:gd name="connsiteY2" fmla="*/ 1760505 h 2283744"/>
                  <a:gd name="connsiteX3" fmla="*/ 2401536 w 2469492"/>
                  <a:gd name="connsiteY3" fmla="*/ 1267045 h 2283744"/>
                  <a:gd name="connsiteX4" fmla="*/ 1119156 w 2469492"/>
                  <a:gd name="connsiteY4" fmla="*/ 1342449 h 2283744"/>
                  <a:gd name="connsiteX5" fmla="*/ 979084 w 2469492"/>
                  <a:gd name="connsiteY5" fmla="*/ 275548 h 2283744"/>
                  <a:gd name="connsiteX6" fmla="*/ 398234 w 2469492"/>
                  <a:gd name="connsiteY6" fmla="*/ -271 h 2283744"/>
                  <a:gd name="connsiteX7" fmla="*/ 83466 w 2469492"/>
                  <a:gd name="connsiteY7" fmla="*/ 1812023 h 2283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69492" h="2283744">
                    <a:moveTo>
                      <a:pt x="83466" y="1812023"/>
                    </a:moveTo>
                    <a:cubicBezTo>
                      <a:pt x="135566" y="2000035"/>
                      <a:pt x="282464" y="2146933"/>
                      <a:pt x="470476" y="2198950"/>
                    </a:cubicBezTo>
                    <a:cubicBezTo>
                      <a:pt x="1174587" y="2393788"/>
                      <a:pt x="1914318" y="2253465"/>
                      <a:pt x="2425090" y="1760505"/>
                    </a:cubicBezTo>
                    <a:cubicBezTo>
                      <a:pt x="2485680" y="1552434"/>
                      <a:pt x="2486929" y="1359428"/>
                      <a:pt x="2401536" y="1267045"/>
                    </a:cubicBezTo>
                    <a:cubicBezTo>
                      <a:pt x="2172242" y="1018858"/>
                      <a:pt x="1429264" y="1615937"/>
                      <a:pt x="1119156" y="1342449"/>
                    </a:cubicBezTo>
                    <a:cubicBezTo>
                      <a:pt x="869472" y="1122228"/>
                      <a:pt x="1237756" y="635010"/>
                      <a:pt x="979084" y="275548"/>
                    </a:cubicBezTo>
                    <a:cubicBezTo>
                      <a:pt x="859318" y="109091"/>
                      <a:pt x="645339" y="25863"/>
                      <a:pt x="398234" y="-271"/>
                    </a:cubicBezTo>
                    <a:cubicBezTo>
                      <a:pt x="6480" y="500180"/>
                      <a:pt x="-94060" y="1170833"/>
                      <a:pt x="83466" y="1812023"/>
                    </a:cubicBezTo>
                    <a:close/>
                  </a:path>
                </a:pathLst>
              </a:custGeom>
              <a:solidFill>
                <a:schemeClr val="tx1">
                  <a:alpha val="5000"/>
                </a:schemeClr>
              </a:solidFill>
              <a:ln w="832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F1A1C96-386A-07DC-FB5D-CDCBB029EE8B}"/>
                </a:ext>
              </a:extLst>
            </p:cNvPr>
            <p:cNvGrpSpPr/>
            <p:nvPr/>
          </p:nvGrpSpPr>
          <p:grpSpPr>
            <a:xfrm>
              <a:off x="6994627" y="2937479"/>
              <a:ext cx="3118885" cy="3030383"/>
              <a:chOff x="6994627" y="2937479"/>
              <a:chExt cx="3118885" cy="3030383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A08C209B-2782-EE93-AE6D-0F0D7D86917A}"/>
                  </a:ext>
                </a:extLst>
              </p:cNvPr>
              <p:cNvSpPr/>
              <p:nvPr/>
            </p:nvSpPr>
            <p:spPr>
              <a:xfrm>
                <a:off x="6994627" y="2937479"/>
                <a:ext cx="2994850" cy="2994958"/>
              </a:xfrm>
              <a:custGeom>
                <a:avLst/>
                <a:gdLst>
                  <a:gd name="connsiteX0" fmla="*/ 2522263 w 2994850"/>
                  <a:gd name="connsiteY0" fmla="*/ 2910147 h 2994958"/>
                  <a:gd name="connsiteX1" fmla="*/ 2909274 w 2994850"/>
                  <a:gd name="connsiteY1" fmla="*/ 2523219 h 2994958"/>
                  <a:gd name="connsiteX2" fmla="*/ 2448107 w 2994850"/>
                  <a:gd name="connsiteY2" fmla="*/ 545468 h 2994958"/>
                  <a:gd name="connsiteX3" fmla="*/ 470356 w 2994850"/>
                  <a:gd name="connsiteY3" fmla="*/ 84218 h 2994958"/>
                  <a:gd name="connsiteX4" fmla="*/ 83345 w 2994850"/>
                  <a:gd name="connsiteY4" fmla="*/ 471229 h 2994958"/>
                  <a:gd name="connsiteX5" fmla="*/ 544596 w 2994850"/>
                  <a:gd name="connsiteY5" fmla="*/ 2448979 h 2994958"/>
                  <a:gd name="connsiteX6" fmla="*/ 2522263 w 2994850"/>
                  <a:gd name="connsiteY6" fmla="*/ 2910147 h 299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94850" h="2994958">
                    <a:moveTo>
                      <a:pt x="2522263" y="2910147"/>
                    </a:moveTo>
                    <a:cubicBezTo>
                      <a:pt x="2710275" y="2858129"/>
                      <a:pt x="2857173" y="2711231"/>
                      <a:pt x="2909274" y="2523219"/>
                    </a:cubicBezTo>
                    <a:cubicBezTo>
                      <a:pt x="3107024" y="1808372"/>
                      <a:pt x="2959211" y="1056822"/>
                      <a:pt x="2448107" y="545468"/>
                    </a:cubicBezTo>
                    <a:cubicBezTo>
                      <a:pt x="1937003" y="34115"/>
                      <a:pt x="1185119" y="-113532"/>
                      <a:pt x="470356" y="84218"/>
                    </a:cubicBezTo>
                    <a:cubicBezTo>
                      <a:pt x="282344" y="136261"/>
                      <a:pt x="135363" y="283183"/>
                      <a:pt x="83345" y="471229"/>
                    </a:cubicBezTo>
                    <a:cubicBezTo>
                      <a:pt x="-114405" y="1186076"/>
                      <a:pt x="33408" y="1937626"/>
                      <a:pt x="544596" y="2448979"/>
                    </a:cubicBezTo>
                    <a:cubicBezTo>
                      <a:pt x="1055784" y="2960334"/>
                      <a:pt x="1807083" y="3107980"/>
                      <a:pt x="2522263" y="291014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32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CE9B028-6759-F175-E86D-4D025765E6AA}"/>
                  </a:ext>
                </a:extLst>
              </p:cNvPr>
              <p:cNvSpPr/>
              <p:nvPr/>
            </p:nvSpPr>
            <p:spPr>
              <a:xfrm>
                <a:off x="7829767" y="3498435"/>
                <a:ext cx="2283745" cy="2469427"/>
              </a:xfrm>
              <a:custGeom>
                <a:avLst/>
                <a:gdLst>
                  <a:gd name="connsiteX0" fmla="*/ 1811095 w 2283744"/>
                  <a:gd name="connsiteY0" fmla="*/ 2384628 h 2469427"/>
                  <a:gd name="connsiteX1" fmla="*/ 2198106 w 2283744"/>
                  <a:gd name="connsiteY1" fmla="*/ 1997700 h 2469427"/>
                  <a:gd name="connsiteX2" fmla="*/ 1759660 w 2283744"/>
                  <a:gd name="connsiteY2" fmla="*/ 43087 h 2469427"/>
                  <a:gd name="connsiteX3" fmla="*/ 1266117 w 2283744"/>
                  <a:gd name="connsiteY3" fmla="*/ 66558 h 2469427"/>
                  <a:gd name="connsiteX4" fmla="*/ 1341605 w 2283744"/>
                  <a:gd name="connsiteY4" fmla="*/ 1348937 h 2469427"/>
                  <a:gd name="connsiteX5" fmla="*/ 274703 w 2283744"/>
                  <a:gd name="connsiteY5" fmla="*/ 1489093 h 2469427"/>
                  <a:gd name="connsiteX6" fmla="*/ -1115 w 2283744"/>
                  <a:gd name="connsiteY6" fmla="*/ 2069943 h 2469427"/>
                  <a:gd name="connsiteX7" fmla="*/ 1811095 w 2283744"/>
                  <a:gd name="connsiteY7" fmla="*/ 2384628 h 2469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83744" h="2469427">
                    <a:moveTo>
                      <a:pt x="1811095" y="2384628"/>
                    </a:moveTo>
                    <a:cubicBezTo>
                      <a:pt x="1999107" y="2332611"/>
                      <a:pt x="2146005" y="2185713"/>
                      <a:pt x="2198106" y="1997700"/>
                    </a:cubicBezTo>
                    <a:cubicBezTo>
                      <a:pt x="2392943" y="1293590"/>
                      <a:pt x="2252621" y="553859"/>
                      <a:pt x="1759660" y="43087"/>
                    </a:cubicBezTo>
                    <a:cubicBezTo>
                      <a:pt x="1551589" y="-17586"/>
                      <a:pt x="1358500" y="-18834"/>
                      <a:pt x="1266117" y="66558"/>
                    </a:cubicBezTo>
                    <a:cubicBezTo>
                      <a:pt x="1018014" y="295851"/>
                      <a:pt x="1615009" y="1038829"/>
                      <a:pt x="1341605" y="1348937"/>
                    </a:cubicBezTo>
                    <a:cubicBezTo>
                      <a:pt x="1121383" y="1598621"/>
                      <a:pt x="634165" y="1230337"/>
                      <a:pt x="274703" y="1489093"/>
                    </a:cubicBezTo>
                    <a:cubicBezTo>
                      <a:pt x="108247" y="1608775"/>
                      <a:pt x="25019" y="1822755"/>
                      <a:pt x="-1115" y="2069943"/>
                    </a:cubicBezTo>
                    <a:cubicBezTo>
                      <a:pt x="498920" y="2461531"/>
                      <a:pt x="1169573" y="2562071"/>
                      <a:pt x="1811095" y="2384628"/>
                    </a:cubicBezTo>
                    <a:close/>
                  </a:path>
                </a:pathLst>
              </a:custGeom>
              <a:solidFill>
                <a:schemeClr val="tx1">
                  <a:alpha val="5000"/>
                </a:schemeClr>
              </a:solidFill>
              <a:ln w="832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BF73343-8897-981E-D915-E762A625474F}"/>
              </a:ext>
            </a:extLst>
          </p:cNvPr>
          <p:cNvGrpSpPr/>
          <p:nvPr/>
        </p:nvGrpSpPr>
        <p:grpSpPr>
          <a:xfrm>
            <a:off x="7560331" y="999758"/>
            <a:ext cx="1876263" cy="1888082"/>
            <a:chOff x="6869490" y="1929784"/>
            <a:chExt cx="2148871" cy="216240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82195B8-E5E1-49AA-9F6D-9FCCE4C89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490" y="1929784"/>
              <a:ext cx="2148871" cy="216240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800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81A466B-F3D1-6E3A-8002-F7A9A6233B3F}"/>
                </a:ext>
              </a:extLst>
            </p:cNvPr>
            <p:cNvGrpSpPr/>
            <p:nvPr/>
          </p:nvGrpSpPr>
          <p:grpSpPr>
            <a:xfrm>
              <a:off x="6916336" y="1984064"/>
              <a:ext cx="2072638" cy="2075752"/>
              <a:chOff x="6277530" y="3789088"/>
              <a:chExt cx="1027113" cy="1028700"/>
            </a:xfrm>
            <a:effectLst>
              <a:outerShdw blurRad="431800" dist="292100" dir="3000000" sx="102000" sy="102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FA89DF5-DF3C-04F4-26E1-AF4105FE8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7530" y="3789088"/>
                <a:ext cx="1027113" cy="10287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2">
                      <a:shade val="30000"/>
                      <a:satMod val="115000"/>
                    </a:schemeClr>
                  </a:gs>
                  <a:gs pos="100000">
                    <a:schemeClr val="bg2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ru-UA" sz="11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EC22677-953E-26AC-B551-0891E4B4C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5810" y="3803393"/>
                <a:ext cx="998503" cy="10000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gerian" panose="04020705040A02060702" pitchFamily="82" charset="0"/>
                    <a:cs typeface="Times New Roman" panose="02020603050405020304" pitchFamily="18" charset="0"/>
                  </a:rPr>
                  <a:t>UNIQUE SELLING PROPOSITION</a:t>
                </a:r>
                <a:endParaRPr lang="ru-UA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62" name="Picture 2" descr="Differentiators Images – Browse 984 Stock Photos, Vectors, and Video |  Adobe Stock">
            <a:extLst>
              <a:ext uri="{FF2B5EF4-FFF2-40B4-BE49-F238E27FC236}">
                <a16:creationId xmlns:a16="http://schemas.microsoft.com/office/drawing/2014/main" id="{0A03DF22-CA95-45E6-8AC3-05D9CF1A9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547" y="556517"/>
            <a:ext cx="1290620" cy="96796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4" descr="megaphone icon banner for social media ...">
            <a:extLst>
              <a:ext uri="{FF2B5EF4-FFF2-40B4-BE49-F238E27FC236}">
                <a16:creationId xmlns:a16="http://schemas.microsoft.com/office/drawing/2014/main" id="{01E34C9F-9AF9-74B7-92C6-53CD1A19B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759" y="3110416"/>
            <a:ext cx="1317097" cy="105472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Experience Icon Trendy Experience Logo ...">
            <a:extLst>
              <a:ext uri="{FF2B5EF4-FFF2-40B4-BE49-F238E27FC236}">
                <a16:creationId xmlns:a16="http://schemas.microsoft.com/office/drawing/2014/main" id="{FC770FF4-B98E-0EBC-913A-948AFCB92A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06"/>
          <a:stretch>
            <a:fillRect/>
          </a:stretch>
        </p:blipFill>
        <p:spPr bwMode="auto">
          <a:xfrm>
            <a:off x="6605675" y="2936476"/>
            <a:ext cx="1252447" cy="121043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Rectangle: Rounded Corners 4106">
            <a:extLst>
              <a:ext uri="{FF2B5EF4-FFF2-40B4-BE49-F238E27FC236}">
                <a16:creationId xmlns:a16="http://schemas.microsoft.com/office/drawing/2014/main" id="{B83727B9-76F0-399E-AF4C-76C1C8A1C6BD}"/>
              </a:ext>
            </a:extLst>
          </p:cNvPr>
          <p:cNvSpPr/>
          <p:nvPr/>
        </p:nvSpPr>
        <p:spPr>
          <a:xfrm>
            <a:off x="4046021" y="1581688"/>
            <a:ext cx="2554903" cy="1665184"/>
          </a:xfrm>
          <a:prstGeom prst="round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investment reselling model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focus on non-metro markets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pricing Strategy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68041E-63FA-D3E3-E7B9-ADD7FFB38627}"/>
              </a:ext>
            </a:extLst>
          </p:cNvPr>
          <p:cNvSpPr/>
          <p:nvPr/>
        </p:nvSpPr>
        <p:spPr>
          <a:xfrm>
            <a:off x="9536845" y="1158762"/>
            <a:ext cx="2554903" cy="166518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choose us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price option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Cash on Delivery availability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 variety of unbranded/local products.</a:t>
            </a:r>
          </a:p>
          <a:p>
            <a:pPr algn="ctr"/>
            <a:endParaRPr lang="en-IN" sz="1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A7DB4-1BFD-179B-E12F-4582E3971145}"/>
              </a:ext>
            </a:extLst>
          </p:cNvPr>
          <p:cNvSpPr/>
          <p:nvPr/>
        </p:nvSpPr>
        <p:spPr>
          <a:xfrm>
            <a:off x="7043901" y="4369382"/>
            <a:ext cx="2554903" cy="1665184"/>
          </a:xfrm>
          <a:prstGeom prst="round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Branding &amp; Experience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“Earn from home” concept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UI for 1</a:t>
            </a:r>
            <a:r>
              <a:rPr lang="en-US" sz="14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users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Referral-based growth</a:t>
            </a:r>
          </a:p>
        </p:txBody>
      </p:sp>
    </p:spTree>
    <p:extLst>
      <p:ext uri="{BB962C8B-B14F-4D97-AF65-F5344CB8AC3E}">
        <p14:creationId xmlns:p14="http://schemas.microsoft.com/office/powerpoint/2010/main" val="109859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47C7A71-526A-EB1D-B507-C319E432FE0D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BA3EF65-A5D6-DDBC-B077-984FD4C6C4DE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1DE96032-2236-F67D-24C7-490326E65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72412-69D0-9205-06B0-542CE93943E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087154" y="3357338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E94A831D-EEB7-6691-F475-075713D60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52BE01-5A40-EF89-B962-241CAE615682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GAP &amp; CUSTOMER NEED ANALYSIS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81A89CB-9850-CC5D-6314-E1F59EF7EF90}"/>
              </a:ext>
            </a:extLst>
          </p:cNvPr>
          <p:cNvSpPr/>
          <p:nvPr/>
        </p:nvSpPr>
        <p:spPr>
          <a:xfrm>
            <a:off x="6172036" y="2371949"/>
            <a:ext cx="763842" cy="830260"/>
          </a:xfrm>
          <a:custGeom>
            <a:avLst/>
            <a:gdLst>
              <a:gd name="csX0" fmla="*/ 362162 w 1026649"/>
              <a:gd name="csY0" fmla="*/ 0 h 1150375"/>
              <a:gd name="csX1" fmla="*/ 1026649 w 1026649"/>
              <a:gd name="csY1" fmla="*/ 0 h 1150375"/>
              <a:gd name="csX2" fmla="*/ 1026649 w 1026649"/>
              <a:gd name="csY2" fmla="*/ 788213 h 1150375"/>
              <a:gd name="csX3" fmla="*/ 664487 w 1026649"/>
              <a:gd name="csY3" fmla="*/ 1150375 h 1150375"/>
              <a:gd name="csX4" fmla="*/ 0 w 1026649"/>
              <a:gd name="csY4" fmla="*/ 1150375 h 1150375"/>
              <a:gd name="csX5" fmla="*/ 0 w 1026649"/>
              <a:gd name="csY5" fmla="*/ 362162 h 1150375"/>
              <a:gd name="csX6" fmla="*/ 362162 w 1026649"/>
              <a:gd name="csY6" fmla="*/ 0 h 1150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6649" h="1150375">
                <a:moveTo>
                  <a:pt x="362162" y="0"/>
                </a:moveTo>
                <a:lnTo>
                  <a:pt x="1026649" y="0"/>
                </a:lnTo>
                <a:lnTo>
                  <a:pt x="1026649" y="788213"/>
                </a:lnTo>
                <a:cubicBezTo>
                  <a:pt x="1026649" y="988230"/>
                  <a:pt x="864504" y="1150375"/>
                  <a:pt x="664487" y="1150375"/>
                </a:cubicBezTo>
                <a:lnTo>
                  <a:pt x="0" y="1150375"/>
                </a:lnTo>
                <a:lnTo>
                  <a:pt x="0" y="362162"/>
                </a:lnTo>
                <a:cubicBezTo>
                  <a:pt x="0" y="162145"/>
                  <a:pt x="162145" y="0"/>
                  <a:pt x="362162" y="0"/>
                </a:cubicBezTo>
                <a:close/>
              </a:path>
            </a:pathLst>
          </a:cu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0B23DC0-6D5C-E9E7-B503-6F3BEDB7CFBD}"/>
              </a:ext>
            </a:extLst>
          </p:cNvPr>
          <p:cNvSpPr/>
          <p:nvPr/>
        </p:nvSpPr>
        <p:spPr>
          <a:xfrm>
            <a:off x="7767648" y="3662582"/>
            <a:ext cx="579045" cy="957095"/>
          </a:xfrm>
          <a:custGeom>
            <a:avLst/>
            <a:gdLst>
              <a:gd name="csX0" fmla="*/ 362162 w 736237"/>
              <a:gd name="csY0" fmla="*/ 0 h 1124512"/>
              <a:gd name="csX1" fmla="*/ 736237 w 736237"/>
              <a:gd name="csY1" fmla="*/ 0 h 1124512"/>
              <a:gd name="csX2" fmla="*/ 736237 w 736237"/>
              <a:gd name="csY2" fmla="*/ 762350 h 1124512"/>
              <a:gd name="csX3" fmla="*/ 374075 w 736237"/>
              <a:gd name="csY3" fmla="*/ 1124512 h 1124512"/>
              <a:gd name="csX4" fmla="*/ 0 w 736237"/>
              <a:gd name="csY4" fmla="*/ 1124512 h 1124512"/>
              <a:gd name="csX5" fmla="*/ 0 w 736237"/>
              <a:gd name="csY5" fmla="*/ 362162 h 1124512"/>
              <a:gd name="csX6" fmla="*/ 362162 w 736237"/>
              <a:gd name="csY6" fmla="*/ 0 h 11245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36237" h="1124512">
                <a:moveTo>
                  <a:pt x="362162" y="0"/>
                </a:moveTo>
                <a:lnTo>
                  <a:pt x="736237" y="0"/>
                </a:lnTo>
                <a:lnTo>
                  <a:pt x="736237" y="762350"/>
                </a:lnTo>
                <a:cubicBezTo>
                  <a:pt x="736237" y="962367"/>
                  <a:pt x="574092" y="1124512"/>
                  <a:pt x="374075" y="1124512"/>
                </a:cubicBezTo>
                <a:lnTo>
                  <a:pt x="0" y="1124512"/>
                </a:lnTo>
                <a:lnTo>
                  <a:pt x="0" y="362162"/>
                </a:lnTo>
                <a:cubicBezTo>
                  <a:pt x="0" y="162145"/>
                  <a:pt x="162145" y="0"/>
                  <a:pt x="362162" y="0"/>
                </a:cubicBezTo>
                <a:close/>
              </a:path>
            </a:pathLst>
          </a:custGeom>
          <a:solidFill>
            <a:schemeClr val="bg1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E911D10-BDF5-ADCB-970B-365C1347AEE8}"/>
              </a:ext>
            </a:extLst>
          </p:cNvPr>
          <p:cNvSpPr/>
          <p:nvPr/>
        </p:nvSpPr>
        <p:spPr>
          <a:xfrm>
            <a:off x="5116434" y="1374425"/>
            <a:ext cx="1669812" cy="1631876"/>
          </a:xfrm>
          <a:custGeom>
            <a:avLst/>
            <a:gdLst>
              <a:gd name="csX0" fmla="*/ 362162 w 2172929"/>
              <a:gd name="csY0" fmla="*/ 0 h 2300749"/>
              <a:gd name="csX1" fmla="*/ 1810767 w 2172929"/>
              <a:gd name="csY1" fmla="*/ 0 h 2300749"/>
              <a:gd name="csX2" fmla="*/ 2172929 w 2172929"/>
              <a:gd name="csY2" fmla="*/ 362162 h 2300749"/>
              <a:gd name="csX3" fmla="*/ 2172929 w 2172929"/>
              <a:gd name="csY3" fmla="*/ 1150374 h 2300749"/>
              <a:gd name="csX4" fmla="*/ 1508442 w 2172929"/>
              <a:gd name="csY4" fmla="*/ 1150374 h 2300749"/>
              <a:gd name="csX5" fmla="*/ 1146280 w 2172929"/>
              <a:gd name="csY5" fmla="*/ 1512536 h 2300749"/>
              <a:gd name="csX6" fmla="*/ 1146280 w 2172929"/>
              <a:gd name="csY6" fmla="*/ 2300749 h 2300749"/>
              <a:gd name="csX7" fmla="*/ 362162 w 2172929"/>
              <a:gd name="csY7" fmla="*/ 2300749 h 2300749"/>
              <a:gd name="csX8" fmla="*/ 0 w 2172929"/>
              <a:gd name="csY8" fmla="*/ 1938587 h 2300749"/>
              <a:gd name="csX9" fmla="*/ 0 w 2172929"/>
              <a:gd name="csY9" fmla="*/ 362162 h 2300749"/>
              <a:gd name="csX10" fmla="*/ 362162 w 2172929"/>
              <a:gd name="csY10" fmla="*/ 0 h 2300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72929" h="2300749">
                <a:moveTo>
                  <a:pt x="362162" y="0"/>
                </a:moveTo>
                <a:lnTo>
                  <a:pt x="1810767" y="0"/>
                </a:lnTo>
                <a:cubicBezTo>
                  <a:pt x="2010784" y="0"/>
                  <a:pt x="2172929" y="162145"/>
                  <a:pt x="2172929" y="362162"/>
                </a:cubicBezTo>
                <a:lnTo>
                  <a:pt x="2172929" y="1150374"/>
                </a:lnTo>
                <a:lnTo>
                  <a:pt x="1508442" y="1150374"/>
                </a:lnTo>
                <a:cubicBezTo>
                  <a:pt x="1308425" y="1150374"/>
                  <a:pt x="1146280" y="1312519"/>
                  <a:pt x="1146280" y="1512536"/>
                </a:cubicBezTo>
                <a:lnTo>
                  <a:pt x="1146280" y="2300749"/>
                </a:lnTo>
                <a:lnTo>
                  <a:pt x="362162" y="2300749"/>
                </a:lnTo>
                <a:cubicBezTo>
                  <a:pt x="162145" y="2300749"/>
                  <a:pt x="0" y="2138604"/>
                  <a:pt x="0" y="1938587"/>
                </a:cubicBezTo>
                <a:lnTo>
                  <a:pt x="0" y="362162"/>
                </a:lnTo>
                <a:cubicBezTo>
                  <a:pt x="0" y="162145"/>
                  <a:pt x="162145" y="0"/>
                  <a:pt x="362162" y="0"/>
                </a:cubicBezTo>
                <a:close/>
              </a:path>
            </a:pathLst>
          </a:cu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pain Points</a:t>
            </a:r>
          </a:p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D99B8D6-4AA5-0368-E6D0-836D7DA5446A}"/>
              </a:ext>
            </a:extLst>
          </p:cNvPr>
          <p:cNvSpPr/>
          <p:nvPr/>
        </p:nvSpPr>
        <p:spPr>
          <a:xfrm>
            <a:off x="6146813" y="2355927"/>
            <a:ext cx="2068653" cy="2094729"/>
          </a:xfrm>
          <a:custGeom>
            <a:avLst/>
            <a:gdLst>
              <a:gd name="csX0" fmla="*/ 1026649 w 2172929"/>
              <a:gd name="csY0" fmla="*/ 0 h 2300749"/>
              <a:gd name="csX1" fmla="*/ 1810767 w 2172929"/>
              <a:gd name="csY1" fmla="*/ 0 h 2300749"/>
              <a:gd name="csX2" fmla="*/ 2172929 w 2172929"/>
              <a:gd name="csY2" fmla="*/ 362162 h 2300749"/>
              <a:gd name="csX3" fmla="*/ 2172929 w 2172929"/>
              <a:gd name="csY3" fmla="*/ 1176237 h 2300749"/>
              <a:gd name="csX4" fmla="*/ 1798854 w 2172929"/>
              <a:gd name="csY4" fmla="*/ 1176237 h 2300749"/>
              <a:gd name="csX5" fmla="*/ 1436692 w 2172929"/>
              <a:gd name="csY5" fmla="*/ 1538399 h 2300749"/>
              <a:gd name="csX6" fmla="*/ 1436692 w 2172929"/>
              <a:gd name="csY6" fmla="*/ 2300749 h 2300749"/>
              <a:gd name="csX7" fmla="*/ 362162 w 2172929"/>
              <a:gd name="csY7" fmla="*/ 2300749 h 2300749"/>
              <a:gd name="csX8" fmla="*/ 0 w 2172929"/>
              <a:gd name="csY8" fmla="*/ 1938587 h 2300749"/>
              <a:gd name="csX9" fmla="*/ 0 w 2172929"/>
              <a:gd name="csY9" fmla="*/ 1150375 h 2300749"/>
              <a:gd name="csX10" fmla="*/ 664487 w 2172929"/>
              <a:gd name="csY10" fmla="*/ 1150375 h 2300749"/>
              <a:gd name="csX11" fmla="*/ 1026649 w 2172929"/>
              <a:gd name="csY11" fmla="*/ 788213 h 2300749"/>
              <a:gd name="csX12" fmla="*/ 1026649 w 2172929"/>
              <a:gd name="csY12" fmla="*/ 0 h 2300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72929" h="2300749">
                <a:moveTo>
                  <a:pt x="1026649" y="0"/>
                </a:moveTo>
                <a:lnTo>
                  <a:pt x="1810767" y="0"/>
                </a:lnTo>
                <a:cubicBezTo>
                  <a:pt x="2010784" y="0"/>
                  <a:pt x="2172929" y="162145"/>
                  <a:pt x="2172929" y="362162"/>
                </a:cubicBezTo>
                <a:lnTo>
                  <a:pt x="2172929" y="1176237"/>
                </a:lnTo>
                <a:lnTo>
                  <a:pt x="1798854" y="1176237"/>
                </a:lnTo>
                <a:cubicBezTo>
                  <a:pt x="1598837" y="1176237"/>
                  <a:pt x="1436692" y="1338382"/>
                  <a:pt x="1436692" y="1538399"/>
                </a:cubicBezTo>
                <a:lnTo>
                  <a:pt x="1436692" y="2300749"/>
                </a:lnTo>
                <a:lnTo>
                  <a:pt x="362162" y="2300749"/>
                </a:lnTo>
                <a:cubicBezTo>
                  <a:pt x="162145" y="2300749"/>
                  <a:pt x="0" y="2138604"/>
                  <a:pt x="0" y="1938587"/>
                </a:cubicBezTo>
                <a:lnTo>
                  <a:pt x="0" y="1150375"/>
                </a:lnTo>
                <a:lnTo>
                  <a:pt x="664487" y="1150375"/>
                </a:lnTo>
                <a:cubicBezTo>
                  <a:pt x="864504" y="1150375"/>
                  <a:pt x="1026649" y="988230"/>
                  <a:pt x="1026649" y="788213"/>
                </a:cubicBezTo>
                <a:lnTo>
                  <a:pt x="1026649" y="0"/>
                </a:lnTo>
                <a:close/>
              </a:path>
            </a:pathLst>
          </a:cu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24FB5E0-B738-1478-49F7-74CBDFF3C7AB}"/>
              </a:ext>
            </a:extLst>
          </p:cNvPr>
          <p:cNvSpPr/>
          <p:nvPr/>
        </p:nvSpPr>
        <p:spPr>
          <a:xfrm>
            <a:off x="7982332" y="4011267"/>
            <a:ext cx="1628930" cy="1664405"/>
          </a:xfrm>
          <a:custGeom>
            <a:avLst/>
            <a:gdLst>
              <a:gd name="csX0" fmla="*/ 736237 w 2172929"/>
              <a:gd name="csY0" fmla="*/ 0 h 2300749"/>
              <a:gd name="csX1" fmla="*/ 1810767 w 2172929"/>
              <a:gd name="csY1" fmla="*/ 0 h 2300749"/>
              <a:gd name="csX2" fmla="*/ 2172929 w 2172929"/>
              <a:gd name="csY2" fmla="*/ 362162 h 2300749"/>
              <a:gd name="csX3" fmla="*/ 2172929 w 2172929"/>
              <a:gd name="csY3" fmla="*/ 1938587 h 2300749"/>
              <a:gd name="csX4" fmla="*/ 1810767 w 2172929"/>
              <a:gd name="csY4" fmla="*/ 2300749 h 2300749"/>
              <a:gd name="csX5" fmla="*/ 362162 w 2172929"/>
              <a:gd name="csY5" fmla="*/ 2300749 h 2300749"/>
              <a:gd name="csX6" fmla="*/ 0 w 2172929"/>
              <a:gd name="csY6" fmla="*/ 1938587 h 2300749"/>
              <a:gd name="csX7" fmla="*/ 0 w 2172929"/>
              <a:gd name="csY7" fmla="*/ 1124512 h 2300749"/>
              <a:gd name="csX8" fmla="*/ 374075 w 2172929"/>
              <a:gd name="csY8" fmla="*/ 1124512 h 2300749"/>
              <a:gd name="csX9" fmla="*/ 736237 w 2172929"/>
              <a:gd name="csY9" fmla="*/ 762350 h 2300749"/>
              <a:gd name="csX10" fmla="*/ 736237 w 2172929"/>
              <a:gd name="csY10" fmla="*/ 0 h 2300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72929" h="2300749">
                <a:moveTo>
                  <a:pt x="736237" y="0"/>
                </a:moveTo>
                <a:lnTo>
                  <a:pt x="1810767" y="0"/>
                </a:lnTo>
                <a:cubicBezTo>
                  <a:pt x="2010784" y="0"/>
                  <a:pt x="2172929" y="162145"/>
                  <a:pt x="2172929" y="362162"/>
                </a:cubicBezTo>
                <a:lnTo>
                  <a:pt x="2172929" y="1938587"/>
                </a:lnTo>
                <a:cubicBezTo>
                  <a:pt x="2172929" y="2138604"/>
                  <a:pt x="2010784" y="2300749"/>
                  <a:pt x="1810767" y="2300749"/>
                </a:cubicBezTo>
                <a:lnTo>
                  <a:pt x="362162" y="2300749"/>
                </a:lnTo>
                <a:cubicBezTo>
                  <a:pt x="162145" y="2300749"/>
                  <a:pt x="0" y="2138604"/>
                  <a:pt x="0" y="1938587"/>
                </a:cubicBezTo>
                <a:lnTo>
                  <a:pt x="0" y="1124512"/>
                </a:lnTo>
                <a:lnTo>
                  <a:pt x="374075" y="1124512"/>
                </a:lnTo>
                <a:cubicBezTo>
                  <a:pt x="574092" y="1124512"/>
                  <a:pt x="736237" y="962367"/>
                  <a:pt x="736237" y="762350"/>
                </a:cubicBezTo>
                <a:lnTo>
                  <a:pt x="736237" y="0"/>
                </a:lnTo>
                <a:close/>
              </a:path>
            </a:pathLst>
          </a:cu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ABF9BD-101F-A4C8-5607-9202170F05E5}"/>
              </a:ext>
            </a:extLst>
          </p:cNvPr>
          <p:cNvSpPr txBox="1"/>
          <p:nvPr/>
        </p:nvSpPr>
        <p:spPr>
          <a:xfrm rot="17567893">
            <a:off x="6490564" y="2854285"/>
            <a:ext cx="173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Meesho Solves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111023-BA86-D4F2-A437-B25C1B14F3CF}"/>
              </a:ext>
            </a:extLst>
          </p:cNvPr>
          <p:cNvSpPr/>
          <p:nvPr/>
        </p:nvSpPr>
        <p:spPr>
          <a:xfrm>
            <a:off x="6935878" y="1098851"/>
            <a:ext cx="4976996" cy="917213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Sellers had no online Platform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Competition like Amazin &amp; Flipkart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Haigh Entry Barriers(Inventory, Capital)</a:t>
            </a:r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2CEB1B5-FDD8-8AD6-08FE-394DB055BDB4}"/>
              </a:ext>
            </a:extLst>
          </p:cNvPr>
          <p:cNvSpPr/>
          <p:nvPr/>
        </p:nvSpPr>
        <p:spPr>
          <a:xfrm>
            <a:off x="8508697" y="2217649"/>
            <a:ext cx="3566181" cy="1664405"/>
          </a:xfrm>
          <a:prstGeom prst="roundRect">
            <a:avLst/>
          </a:prstGeom>
          <a:ln/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Manufactures-&gt;resellers-&gt;Customers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need for Inventory investment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easy selling WhatsApp &amp;Social Media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B734112-B31D-EBD3-B4A4-8A9A35C347A3}"/>
              </a:ext>
            </a:extLst>
          </p:cNvPr>
          <p:cNvSpPr/>
          <p:nvPr/>
        </p:nvSpPr>
        <p:spPr>
          <a:xfrm>
            <a:off x="5347147" y="4699701"/>
            <a:ext cx="2536887" cy="1239196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Income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Shopping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product Discovery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64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33EB0F4-7CBA-4258-C05D-EABD88D1D935}"/>
              </a:ext>
            </a:extLst>
          </p:cNvPr>
          <p:cNvSpPr/>
          <p:nvPr/>
        </p:nvSpPr>
        <p:spPr>
          <a:xfrm>
            <a:off x="1310986" y="0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8C70D5B-8748-BCB3-938F-A563CFA78F75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466BE19A-4DB6-7151-38E9-58E163F73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526C43-2BE0-D91F-5447-E3887837BD4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F1D91210-C991-2720-8BA9-F4EDD4CA8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132F6A-ADFE-0DBD-A72F-1FF40D9B74DD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&amp; INNOVATION STUDY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8D1C9E-906F-AA7B-31C4-F567BED1E775}"/>
              </a:ext>
            </a:extLst>
          </p:cNvPr>
          <p:cNvSpPr/>
          <p:nvPr/>
        </p:nvSpPr>
        <p:spPr>
          <a:xfrm>
            <a:off x="5418034" y="1731098"/>
            <a:ext cx="1612490" cy="1646179"/>
          </a:xfrm>
          <a:prstGeom prst="ellipse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Features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964B05-84C8-19DE-D4F2-805238FE0DEC}"/>
              </a:ext>
            </a:extLst>
          </p:cNvPr>
          <p:cNvSpPr/>
          <p:nvPr/>
        </p:nvSpPr>
        <p:spPr>
          <a:xfrm>
            <a:off x="7330881" y="1621078"/>
            <a:ext cx="1612490" cy="1646179"/>
          </a:xfrm>
          <a:prstGeom prst="ellipse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Data Analytics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5CFFDC-3B47-128D-58E4-F2F45CD57B9A}"/>
              </a:ext>
            </a:extLst>
          </p:cNvPr>
          <p:cNvSpPr/>
          <p:nvPr/>
        </p:nvSpPr>
        <p:spPr>
          <a:xfrm>
            <a:off x="9268524" y="1613362"/>
            <a:ext cx="1612490" cy="1646179"/>
          </a:xfrm>
          <a:prstGeom prst="ellipse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&amp; Supply Chani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5B8ACF-28D8-25ED-0779-9EA68E15F639}"/>
              </a:ext>
            </a:extLst>
          </p:cNvPr>
          <p:cNvSpPr/>
          <p:nvPr/>
        </p:nvSpPr>
        <p:spPr>
          <a:xfrm>
            <a:off x="4942670" y="3852601"/>
            <a:ext cx="2212258" cy="1279838"/>
          </a:xfrm>
          <a:prstGeom prst="roundRect">
            <a:avLst/>
          </a:prstGeom>
          <a:solidFill>
            <a:srgbClr val="FFC6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Product Listing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Tracking System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17D9A2-ED9E-4DB9-AA16-105842BA7291}"/>
              </a:ext>
            </a:extLst>
          </p:cNvPr>
          <p:cNvSpPr/>
          <p:nvPr/>
        </p:nvSpPr>
        <p:spPr>
          <a:xfrm>
            <a:off x="7242427" y="3852601"/>
            <a:ext cx="2212258" cy="1279838"/>
          </a:xfrm>
          <a:prstGeom prst="roundRect">
            <a:avLst/>
          </a:prstGeom>
          <a:solidFill>
            <a:srgbClr val="AAAA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578730-81A4-7C5B-C8AE-EDB0FAEEDCD8}"/>
              </a:ext>
            </a:extLst>
          </p:cNvPr>
          <p:cNvSpPr/>
          <p:nvPr/>
        </p:nvSpPr>
        <p:spPr>
          <a:xfrm>
            <a:off x="9599043" y="3791142"/>
            <a:ext cx="2212258" cy="1279838"/>
          </a:xfrm>
          <a:prstGeom prst="roundRect">
            <a:avLst/>
          </a:prstGeom>
          <a:solidFill>
            <a:srgbClr val="79B5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Logistics(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Delhivery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Ecom Express)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Oreder Allocation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79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CF73-077B-D406-CD62-41B141E9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79BAD3-79C8-7122-A1ED-A3E65ADCD799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112102-0F76-4565-D866-441D10C41864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347B03A3-ECE9-B255-C674-8AC2F5880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86F5DA-7926-1FF1-F35B-190A96A1267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90C19319-9CE0-C2F2-AAE6-D756BF093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EB2BA9-BE49-B35A-2F8E-5EF4362493AD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 &amp; SENTIMENT ANALYSIS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2EE06C-BB25-C570-88CE-DC7C56506CED}"/>
              </a:ext>
            </a:extLst>
          </p:cNvPr>
          <p:cNvSpPr/>
          <p:nvPr/>
        </p:nvSpPr>
        <p:spPr>
          <a:xfrm>
            <a:off x="5457162" y="1201343"/>
            <a:ext cx="4976996" cy="1923091"/>
          </a:xfrm>
          <a:prstGeom prst="round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Affordable Products, good for reselling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is slow, poor product quality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is okay, needs improvement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1F79E7-9245-30EA-8526-CC3E1B66B081}"/>
              </a:ext>
            </a:extLst>
          </p:cNvPr>
          <p:cNvSpPr/>
          <p:nvPr/>
        </p:nvSpPr>
        <p:spPr>
          <a:xfrm>
            <a:off x="5515896" y="3262235"/>
            <a:ext cx="5093110" cy="2145508"/>
          </a:xfrm>
          <a:prstGeom prst="roundRect">
            <a:avLst/>
          </a:prstGeom>
          <a:ln/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Theme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prices, Good earning opportunity, wide product variety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Delays, Product quality, Return/refund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performance average, Mixed seller experiences</a:t>
            </a:r>
          </a:p>
        </p:txBody>
      </p:sp>
    </p:spTree>
    <p:extLst>
      <p:ext uri="{BB962C8B-B14F-4D97-AF65-F5344CB8AC3E}">
        <p14:creationId xmlns:p14="http://schemas.microsoft.com/office/powerpoint/2010/main" val="2628473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29FE-65E6-534B-4D02-8B5F1CE1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8B549EB-046E-973A-345B-A5871D6D1321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08F040E-606E-EF0B-4CA2-B712FFF10D98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83CDD30F-1EA0-D345-AA2B-6F7BA4892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037994-9300-D773-A69E-C5EB1E744F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841810A8-D2BD-84D6-97A3-18CEA3E94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E97C6D-0C60-9B1E-9758-1CE446FD6E15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COMPETITOR BENCHMARKING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B7955F-E37C-E865-26CA-F1AC1A8ED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092648"/>
              </p:ext>
            </p:extLst>
          </p:nvPr>
        </p:nvGraphicFramePr>
        <p:xfrm>
          <a:off x="4195337" y="1343980"/>
          <a:ext cx="7416560" cy="1940835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{638B1855-1B75-4FBE-930C-398BA8C253C6}</a:tableStyleId>
              </a:tblPr>
              <a:tblGrid>
                <a:gridCol w="1900663">
                  <a:extLst>
                    <a:ext uri="{9D8B030D-6E8A-4147-A177-3AD203B41FA5}">
                      <a16:colId xmlns:a16="http://schemas.microsoft.com/office/drawing/2014/main" val="1673552859"/>
                    </a:ext>
                  </a:extLst>
                </a:gridCol>
                <a:gridCol w="1573161">
                  <a:extLst>
                    <a:ext uri="{9D8B030D-6E8A-4147-A177-3AD203B41FA5}">
                      <a16:colId xmlns:a16="http://schemas.microsoft.com/office/drawing/2014/main" val="2163944093"/>
                    </a:ext>
                  </a:extLst>
                </a:gridCol>
                <a:gridCol w="1042220">
                  <a:extLst>
                    <a:ext uri="{9D8B030D-6E8A-4147-A177-3AD203B41FA5}">
                      <a16:colId xmlns:a16="http://schemas.microsoft.com/office/drawing/2014/main" val="883121482"/>
                    </a:ext>
                  </a:extLst>
                </a:gridCol>
                <a:gridCol w="1337187">
                  <a:extLst>
                    <a:ext uri="{9D8B030D-6E8A-4147-A177-3AD203B41FA5}">
                      <a16:colId xmlns:a16="http://schemas.microsoft.com/office/drawing/2014/main" val="1164906791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2452390059"/>
                    </a:ext>
                  </a:extLst>
                </a:gridCol>
              </a:tblGrid>
              <a:tr h="315015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Meesho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Flipkart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Myntra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46758"/>
                  </a:ext>
                </a:extLst>
              </a:tr>
              <a:tr h="315015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 Speed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06640"/>
                  </a:ext>
                </a:extLst>
              </a:tr>
              <a:tr h="315015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Variety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High-Unbranded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Fashion-Focused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76251"/>
                  </a:ext>
                </a:extLst>
              </a:tr>
              <a:tr h="315015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Pricing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81142"/>
                  </a:ext>
                </a:extLst>
              </a:tr>
              <a:tr h="315015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Experience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124502"/>
                  </a:ext>
                </a:extLst>
              </a:tr>
              <a:tr h="315015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Satisfaction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665697"/>
                  </a:ext>
                </a:extLst>
              </a:tr>
            </a:tbl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0279BA-BCFD-108F-A64F-0E3063E929B1}"/>
              </a:ext>
            </a:extLst>
          </p:cNvPr>
          <p:cNvSpPr/>
          <p:nvPr/>
        </p:nvSpPr>
        <p:spPr>
          <a:xfrm>
            <a:off x="5579112" y="3515232"/>
            <a:ext cx="4892240" cy="1239196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MEESHO LEADS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Pricing &amp; Unique investment reseller Model</a:t>
            </a:r>
          </a:p>
        </p:txBody>
      </p:sp>
    </p:spTree>
    <p:extLst>
      <p:ext uri="{BB962C8B-B14F-4D97-AF65-F5344CB8AC3E}">
        <p14:creationId xmlns:p14="http://schemas.microsoft.com/office/powerpoint/2010/main" val="3335757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C068D-A03D-95B3-49DC-1440C3C6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5AC61C1-B41D-9DC3-C933-4B4758F1BE1B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378EEDC-C917-7D2F-6132-21D03BFC04D1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C07DAA8F-3133-915C-206B-F37128406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FDF35B-DCAF-A7F0-4E4B-81BEB6E43D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4BE06509-0A49-7CEE-BD61-81F3A8096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DCAA22-474C-D583-01DC-A641FC90349C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936013-9F76-0482-9A42-AB5985AA6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842217"/>
              </p:ext>
            </p:extLst>
          </p:nvPr>
        </p:nvGraphicFramePr>
        <p:xfrm>
          <a:off x="4816966" y="1266306"/>
          <a:ext cx="6234492" cy="384706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60815">
                  <a:extLst>
                    <a:ext uri="{9D8B030D-6E8A-4147-A177-3AD203B41FA5}">
                      <a16:colId xmlns:a16="http://schemas.microsoft.com/office/drawing/2014/main" val="2044360236"/>
                    </a:ext>
                  </a:extLst>
                </a:gridCol>
                <a:gridCol w="1435509">
                  <a:extLst>
                    <a:ext uri="{9D8B030D-6E8A-4147-A177-3AD203B41FA5}">
                      <a16:colId xmlns:a16="http://schemas.microsoft.com/office/drawing/2014/main" val="153250147"/>
                    </a:ext>
                  </a:extLst>
                </a:gridCol>
                <a:gridCol w="1494504">
                  <a:extLst>
                    <a:ext uri="{9D8B030D-6E8A-4147-A177-3AD203B41FA5}">
                      <a16:colId xmlns:a16="http://schemas.microsoft.com/office/drawing/2014/main" val="3320514094"/>
                    </a:ext>
                  </a:extLst>
                </a:gridCol>
                <a:gridCol w="1543664">
                  <a:extLst>
                    <a:ext uri="{9D8B030D-6E8A-4147-A177-3AD203B41FA5}">
                      <a16:colId xmlns:a16="http://schemas.microsoft.com/office/drawing/2014/main" val="2858101226"/>
                    </a:ext>
                  </a:extLst>
                </a:gridCol>
              </a:tblGrid>
              <a:tr h="829548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16037"/>
                  </a:ext>
                </a:extLst>
              </a:tr>
              <a:tr h="290988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Lowest Cost Platform With Mass Appeal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Reseller network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and diverse product range</a:t>
                      </a: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control issues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 delays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Brand perception weaker vs. competitors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in tire 2&amp;3 cities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Expansion into new product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digital adoption in rural India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Ongoing Logistics challenges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Intensifying price war in e-commerce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2614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D955689-5F5F-55D5-2D1A-018F79FD56E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42"/>
          <a:stretch/>
        </p:blipFill>
        <p:spPr>
          <a:xfrm>
            <a:off x="5128137" y="1331024"/>
            <a:ext cx="771143" cy="684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B0E754-4EB8-392B-7922-DD376B45F96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9" r="50000"/>
          <a:stretch/>
        </p:blipFill>
        <p:spPr>
          <a:xfrm>
            <a:off x="6665738" y="1331023"/>
            <a:ext cx="771143" cy="684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33C79-3495-5B65-6442-F9DBFC8687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1" r="26308"/>
          <a:stretch/>
        </p:blipFill>
        <p:spPr>
          <a:xfrm>
            <a:off x="8135534" y="1331023"/>
            <a:ext cx="771144" cy="684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2962B6-2344-84ED-76FE-3F0D22B200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3"/>
          <a:stretch/>
        </p:blipFill>
        <p:spPr>
          <a:xfrm>
            <a:off x="9605331" y="1331023"/>
            <a:ext cx="830159" cy="68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73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ADD21-5A50-D920-328D-7D32E11C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62F7D53-9270-9831-8535-C0EC7A2A8500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7C39BE8-C387-EF80-19FA-E026218D3A44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A67DDA4F-5F8E-AA83-10FA-B218760E5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B329BB-A1B7-CE4B-EF7D-11BBB45A63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208D9D5A-6E62-A609-B16E-D7CEF0BBE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C177A8-9743-A784-A115-D949587137F7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94A937-F74E-AFC7-A1AA-B0B03DD311ED}"/>
              </a:ext>
            </a:extLst>
          </p:cNvPr>
          <p:cNvSpPr/>
          <p:nvPr/>
        </p:nvSpPr>
        <p:spPr>
          <a:xfrm>
            <a:off x="5147412" y="1653362"/>
            <a:ext cx="4463849" cy="2324656"/>
          </a:xfrm>
          <a:prstGeom prst="roundRect">
            <a:avLst/>
          </a:prstGeom>
          <a:effectLst>
            <a:innerShdw blurRad="114300">
              <a:prstClr val="black"/>
            </a:innerShdw>
            <a:softEdge rad="63500"/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Findings</a:t>
            </a:r>
          </a:p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Advantage Drives Customer Acquisition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vs Price Trade-Off Exists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is a Critical Weak  Point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Return &amp; Refund Rate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 Needs Improvement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vs Negative Review Pattern</a:t>
            </a:r>
          </a:p>
        </p:txBody>
      </p:sp>
    </p:spTree>
    <p:extLst>
      <p:ext uri="{BB962C8B-B14F-4D97-AF65-F5344CB8AC3E}">
        <p14:creationId xmlns:p14="http://schemas.microsoft.com/office/powerpoint/2010/main" val="807292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5B0C166-1D2A-BDE6-0DC6-CB0717522CD4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24F1BB5-E022-D6B6-206F-1FBC1638DF1E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35" name="Picture 2" descr="Meesho: Online Shopping App 25.2-beta ...">
            <a:extLst>
              <a:ext uri="{FF2B5EF4-FFF2-40B4-BE49-F238E27FC236}">
                <a16:creationId xmlns:a16="http://schemas.microsoft.com/office/drawing/2014/main" id="{D706C20F-06E7-F4FC-D903-B92A182DA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647C44F-3509-2AE0-EC85-111D102382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37" name="Picture 36" descr="Top E Commerce App Development Company">
            <a:extLst>
              <a:ext uri="{FF2B5EF4-FFF2-40B4-BE49-F238E27FC236}">
                <a16:creationId xmlns:a16="http://schemas.microsoft.com/office/drawing/2014/main" id="{5C9B95D1-8FCF-EC30-1628-4FD723EDF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972139-E43C-A38C-038B-4119B1C5705F}"/>
              </a:ext>
            </a:extLst>
          </p:cNvPr>
          <p:cNvSpPr/>
          <p:nvPr/>
        </p:nvSpPr>
        <p:spPr>
          <a:xfrm>
            <a:off x="4306526" y="266208"/>
            <a:ext cx="6892413" cy="506971"/>
          </a:xfrm>
          <a:prstGeom prst="roundRect">
            <a:avLst/>
          </a:prstGeom>
          <a:solidFill>
            <a:srgbClr val="E76A1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BUSINESS RECOMMENDATIONS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34BD6B1-9682-13AA-F6B3-ACA36520862D}"/>
              </a:ext>
            </a:extLst>
          </p:cNvPr>
          <p:cNvSpPr/>
          <p:nvPr/>
        </p:nvSpPr>
        <p:spPr>
          <a:xfrm>
            <a:off x="4306526" y="973342"/>
            <a:ext cx="4463849" cy="2324656"/>
          </a:xfrm>
          <a:prstGeom prst="roundRect">
            <a:avLst/>
          </a:prstGeom>
          <a:effectLst>
            <a:innerShdw blurRad="114300">
              <a:prstClr val="black"/>
            </a:innerShdw>
            <a:softEdge rad="63500"/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Recommendation</a:t>
            </a:r>
          </a:p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Quality Control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Logistics &amp; Delivery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Refund System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Support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Listings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7E5EBEE-AC51-7A60-F1DD-B4AF41A6B5DC}"/>
              </a:ext>
            </a:extLst>
          </p:cNvPr>
          <p:cNvSpPr/>
          <p:nvPr/>
        </p:nvSpPr>
        <p:spPr>
          <a:xfrm>
            <a:off x="6726663" y="3297998"/>
            <a:ext cx="4463849" cy="2324656"/>
          </a:xfrm>
          <a:prstGeom prst="round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  <a:softEdge rad="63500"/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Recommendation</a:t>
            </a:r>
          </a:p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as Private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AI &amp; Personalization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Supply Chain Infrastructure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into New Categories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Training &amp; Development Program</a:t>
            </a:r>
          </a:p>
        </p:txBody>
      </p:sp>
    </p:spTree>
    <p:extLst>
      <p:ext uri="{BB962C8B-B14F-4D97-AF65-F5344CB8AC3E}">
        <p14:creationId xmlns:p14="http://schemas.microsoft.com/office/powerpoint/2010/main" val="185968415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5B4A733-39C6-4A75-76FC-03CCB1E739D8}"/>
              </a:ext>
            </a:extLst>
          </p:cNvPr>
          <p:cNvSpPr/>
          <p:nvPr/>
        </p:nvSpPr>
        <p:spPr>
          <a:xfrm>
            <a:off x="1310986" y="-51723"/>
            <a:ext cx="10881014" cy="6858000"/>
          </a:xfrm>
          <a:custGeom>
            <a:avLst/>
            <a:gdLst>
              <a:gd name="csX0" fmla="*/ 0 w 11642202"/>
              <a:gd name="csY0" fmla="*/ 0 h 6858000"/>
              <a:gd name="csX1" fmla="*/ 11642202 w 11642202"/>
              <a:gd name="csY1" fmla="*/ 0 h 6858000"/>
              <a:gd name="csX2" fmla="*/ 11642202 w 11642202"/>
              <a:gd name="csY2" fmla="*/ 6858000 h 6858000"/>
              <a:gd name="csX3" fmla="*/ 0 w 11642202"/>
              <a:gd name="csY3" fmla="*/ 6858000 h 6858000"/>
              <a:gd name="csX4" fmla="*/ 2945757 w 11642202"/>
              <a:gd name="csY4" fmla="*/ 3429000 h 6858000"/>
              <a:gd name="csX5" fmla="*/ 0 w 11642202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42202" h="6858000">
                <a:moveTo>
                  <a:pt x="0" y="0"/>
                </a:moveTo>
                <a:lnTo>
                  <a:pt x="11642202" y="0"/>
                </a:lnTo>
                <a:lnTo>
                  <a:pt x="11642202" y="6858000"/>
                </a:lnTo>
                <a:lnTo>
                  <a:pt x="0" y="6858000"/>
                </a:lnTo>
                <a:cubicBezTo>
                  <a:pt x="1626897" y="6858000"/>
                  <a:pt x="2945757" y="5322784"/>
                  <a:pt x="2945757" y="3429000"/>
                </a:cubicBezTo>
                <a:cubicBezTo>
                  <a:pt x="2945757" y="1535216"/>
                  <a:pt x="1626897" y="0"/>
                  <a:pt x="0" y="0"/>
                </a:cubicBezTo>
                <a:close/>
              </a:path>
            </a:pathLst>
          </a:custGeom>
          <a:solidFill>
            <a:srgbClr val="5A0848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26DC708-7B06-87FD-5ADB-F8BB3A689652}"/>
              </a:ext>
            </a:extLst>
          </p:cNvPr>
          <p:cNvSpPr/>
          <p:nvPr/>
        </p:nvSpPr>
        <p:spPr>
          <a:xfrm>
            <a:off x="184480" y="224161"/>
            <a:ext cx="3480456" cy="6306232"/>
          </a:xfrm>
          <a:custGeom>
            <a:avLst/>
            <a:gdLst>
              <a:gd name="csX0" fmla="*/ 549798 w 3495555"/>
              <a:gd name="csY0" fmla="*/ 0 h 6858000"/>
              <a:gd name="csX1" fmla="*/ 3495555 w 3495555"/>
              <a:gd name="csY1" fmla="*/ 3429000 h 6858000"/>
              <a:gd name="csX2" fmla="*/ 549798 w 3495555"/>
              <a:gd name="csY2" fmla="*/ 6858000 h 6858000"/>
              <a:gd name="csX3" fmla="*/ 101188 w 3495555"/>
              <a:gd name="csY3" fmla="*/ 6818490 h 6858000"/>
              <a:gd name="csX4" fmla="*/ 0 w 3495555"/>
              <a:gd name="csY4" fmla="*/ 6797456 h 6858000"/>
              <a:gd name="csX5" fmla="*/ 0 w 3495555"/>
              <a:gd name="csY5" fmla="*/ 60544 h 6858000"/>
              <a:gd name="csX6" fmla="*/ 101188 w 3495555"/>
              <a:gd name="csY6" fmla="*/ 39510 h 6858000"/>
              <a:gd name="csX7" fmla="*/ 549798 w 3495555"/>
              <a:gd name="csY7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95555" h="6858000">
                <a:moveTo>
                  <a:pt x="549798" y="0"/>
                </a:moveTo>
                <a:cubicBezTo>
                  <a:pt x="2176695" y="0"/>
                  <a:pt x="3495555" y="1535216"/>
                  <a:pt x="3495555" y="3429000"/>
                </a:cubicBezTo>
                <a:cubicBezTo>
                  <a:pt x="3495555" y="5322784"/>
                  <a:pt x="2176695" y="6858000"/>
                  <a:pt x="549798" y="6858000"/>
                </a:cubicBezTo>
                <a:cubicBezTo>
                  <a:pt x="397276" y="6858000"/>
                  <a:pt x="247462" y="6844507"/>
                  <a:pt x="101188" y="6818490"/>
                </a:cubicBezTo>
                <a:lnTo>
                  <a:pt x="0" y="6797456"/>
                </a:lnTo>
                <a:lnTo>
                  <a:pt x="0" y="60544"/>
                </a:lnTo>
                <a:lnTo>
                  <a:pt x="101188" y="39510"/>
                </a:lnTo>
                <a:cubicBezTo>
                  <a:pt x="247462" y="13493"/>
                  <a:pt x="397276" y="0"/>
                  <a:pt x="5497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2" descr="Meesho: Online Shopping App 25.2-beta ...">
            <a:extLst>
              <a:ext uri="{FF2B5EF4-FFF2-40B4-BE49-F238E27FC236}">
                <a16:creationId xmlns:a16="http://schemas.microsoft.com/office/drawing/2014/main" id="{0DA5D4AB-67B9-440D-B8B2-EDC51844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8" y="1943799"/>
            <a:ext cx="2631485" cy="26314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4EA89C-F160-9C23-1817-EAF8EAF010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91"/>
          <a:stretch>
            <a:fillRect/>
          </a:stretch>
        </p:blipFill>
        <p:spPr>
          <a:xfrm>
            <a:off x="1360150" y="3429000"/>
            <a:ext cx="5670374" cy="3246275"/>
          </a:xfrm>
          <a:prstGeom prst="rect">
            <a:avLst/>
          </a:prstGeom>
        </p:spPr>
      </p:pic>
      <p:pic>
        <p:nvPicPr>
          <p:cNvPr id="6" name="Picture 5" descr="Top E Commerce App Development Company">
            <a:extLst>
              <a:ext uri="{FF2B5EF4-FFF2-40B4-BE49-F238E27FC236}">
                <a16:creationId xmlns:a16="http://schemas.microsoft.com/office/drawing/2014/main" id="{B8CA14F7-A107-6EFB-5DC0-B0558A7DA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98" b="3860"/>
          <a:stretch>
            <a:fillRect/>
          </a:stretch>
        </p:blipFill>
        <p:spPr bwMode="auto">
          <a:xfrm>
            <a:off x="10520516" y="4493343"/>
            <a:ext cx="1720648" cy="2364658"/>
          </a:xfrm>
          <a:custGeom>
            <a:avLst/>
            <a:gdLst>
              <a:gd name="csX0" fmla="*/ 1076394 w 1416582"/>
              <a:gd name="csY0" fmla="*/ 0 h 2069689"/>
              <a:gd name="csX1" fmla="*/ 1396481 w 1416582"/>
              <a:gd name="csY1" fmla="*/ 48393 h 2069689"/>
              <a:gd name="csX2" fmla="*/ 1416582 w 1416582"/>
              <a:gd name="csY2" fmla="*/ 55750 h 2069689"/>
              <a:gd name="csX3" fmla="*/ 1416582 w 1416582"/>
              <a:gd name="csY3" fmla="*/ 2069689 h 2069689"/>
              <a:gd name="csX4" fmla="*/ 661482 w 1416582"/>
              <a:gd name="csY4" fmla="*/ 2069689 h 2069689"/>
              <a:gd name="csX5" fmla="*/ 657413 w 1416582"/>
              <a:gd name="csY5" fmla="*/ 2068200 h 2069689"/>
              <a:gd name="csX6" fmla="*/ 0 w 1416582"/>
              <a:gd name="csY6" fmla="*/ 1076394 h 2069689"/>
              <a:gd name="csX7" fmla="*/ 1076394 w 1416582"/>
              <a:gd name="csY7" fmla="*/ 0 h 2069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6582" h="2069689">
                <a:moveTo>
                  <a:pt x="1076394" y="0"/>
                </a:moveTo>
                <a:cubicBezTo>
                  <a:pt x="1187858" y="0"/>
                  <a:pt x="1295365" y="16943"/>
                  <a:pt x="1396481" y="48393"/>
                </a:cubicBezTo>
                <a:lnTo>
                  <a:pt x="1416582" y="55750"/>
                </a:lnTo>
                <a:lnTo>
                  <a:pt x="1416582" y="2069689"/>
                </a:lnTo>
                <a:lnTo>
                  <a:pt x="661482" y="2069689"/>
                </a:lnTo>
                <a:lnTo>
                  <a:pt x="657413" y="2068200"/>
                </a:lnTo>
                <a:cubicBezTo>
                  <a:pt x="271079" y="1904794"/>
                  <a:pt x="0" y="1522251"/>
                  <a:pt x="0" y="1076394"/>
                </a:cubicBezTo>
                <a:cubicBezTo>
                  <a:pt x="0" y="481918"/>
                  <a:pt x="481918" y="0"/>
                  <a:pt x="10763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630EA5-E654-4FDA-AB80-795EFE42F6B3}"/>
              </a:ext>
            </a:extLst>
          </p:cNvPr>
          <p:cNvSpPr/>
          <p:nvPr/>
        </p:nvSpPr>
        <p:spPr>
          <a:xfrm>
            <a:off x="5244819" y="2104103"/>
            <a:ext cx="5001324" cy="2113935"/>
          </a:xfrm>
          <a:prstGeom prst="roundRect">
            <a:avLst/>
          </a:prstGeom>
          <a:solidFill>
            <a:srgbClr val="D96313"/>
          </a:solidFill>
          <a:effectLst>
            <a:glow rad="228600">
              <a:schemeClr val="accent2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12700" cmpd="sng">
                  <a:solidFill>
                    <a:schemeClr val="bg2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Arial Black" panose="020B0A04020102020204" pitchFamily="34" charset="0"/>
              </a:rPr>
              <a:t>THANK YOU</a:t>
            </a:r>
            <a:endParaRPr lang="en-IN" sz="6000" b="1" dirty="0">
              <a:ln w="12700" cmpd="sng">
                <a:solidFill>
                  <a:schemeClr val="bg2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7252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547</Words>
  <Application>Microsoft Office PowerPoint</Application>
  <PresentationFormat>Widescreen</PresentationFormat>
  <Paragraphs>175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Algerian</vt:lpstr>
      <vt:lpstr>Arial</vt:lpstr>
      <vt:lpstr>Arial Black</vt:lpstr>
      <vt:lpstr>Calibri</vt:lpstr>
      <vt:lpstr>Calibri Light</vt:lpstr>
      <vt:lpstr>Cooper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Kumar</dc:creator>
  <cp:lastModifiedBy>Prasanna Kumar</cp:lastModifiedBy>
  <cp:revision>28</cp:revision>
  <dcterms:created xsi:type="dcterms:W3CDTF">2026-04-09T10:53:20Z</dcterms:created>
  <dcterms:modified xsi:type="dcterms:W3CDTF">2026-04-15T06:10:58Z</dcterms:modified>
</cp:coreProperties>
</file>